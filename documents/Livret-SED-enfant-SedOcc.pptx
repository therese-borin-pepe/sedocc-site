
<file path=[Content_Types].xml><?xml version="1.0" encoding="utf-8"?>
<Types xmlns="http://schemas.openxmlformats.org/package/2006/content-types">
  <Default Extension="png" ContentType="image/png"/>
  <Default Extension="jpe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10.jpeg" ContentType="image/jpeg"/>
  <Override PartName="/ppt/media/image11.jpeg" ContentType="image/jpeg"/>
  <Override PartName="/ppt/media/image12.jpeg" ContentType="image/jpe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78" userDrawn="1">
          <p15:clr>
            <a:srgbClr val="A4A3A4"/>
          </p15:clr>
        </p15:guide>
        <p15:guide id="2" pos="21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82"/>
    <p:restoredTop sz="95377"/>
  </p:normalViewPr>
  <p:slideViewPr>
    <p:cSldViewPr>
      <p:cViewPr varScale="1">
        <p:scale>
          <a:sx n="64" d="100"/>
          <a:sy n="64" d="100"/>
        </p:scale>
        <p:origin x="2872" y="184"/>
      </p:cViewPr>
      <p:guideLst>
        <p:guide orient="horz" pos="2878"/>
        <p:guide pos="216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3F72A-3E22-47E7-995C-6D9D04600525}" type="datetimeFigureOut">
              <a:rPr lang="fr-FR" smtClean="0"/>
              <a:t>29/06/2026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503488" y="1336675"/>
            <a:ext cx="25495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20B9B8-979C-4154-B35D-DE0C001895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668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01900" y="1336675"/>
            <a:ext cx="2552700" cy="36083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708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01900" y="1336675"/>
            <a:ext cx="2552700" cy="36083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15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01900" y="1336675"/>
            <a:ext cx="2552700" cy="36083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01900" y="1336675"/>
            <a:ext cx="2552700" cy="36083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01900" y="1336675"/>
            <a:ext cx="2552700" cy="36083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01900" y="1336675"/>
            <a:ext cx="2552700" cy="36083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01900" y="1336675"/>
            <a:ext cx="2552700" cy="36083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01900" y="1336675"/>
            <a:ext cx="2552700" cy="36083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cstate="print"/>
          <a:stretch>
            <a:fillRect/>
          </a:stretch>
        </p:blipFill>
        <p:spPr>
          <a:xfrm>
            <a:off x="0" y="0"/>
            <a:ext cx="7560564" cy="1069237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6/29/26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6/29/26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6/29/26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5670422" cy="80192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5317" y="849581"/>
            <a:ext cx="2472214" cy="81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8261" y="3574880"/>
            <a:ext cx="3192145" cy="2360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3" r:id="rId4"/>
    <p:sldLayoutId id="2147483664" r:id="rId5"/>
    <p:sldLayoutId id="2147483665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11" Type="http://schemas.openxmlformats.org/officeDocument/2006/relationships/image" Target="../media/image2.jpeg"/><Relationship Id="rId5" Type="http://schemas.openxmlformats.org/officeDocument/2006/relationships/image" Target="../media/image10.jpeg"/><Relationship Id="rId10" Type="http://schemas.openxmlformats.org/officeDocument/2006/relationships/image" Target="../media/image15.jpg"/><Relationship Id="rId4" Type="http://schemas.openxmlformats.org/officeDocument/2006/relationships/image" Target="../media/image3.png"/><Relationship Id="rId9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647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600" b="1" dirty="0">
                <a:solidFill>
                  <a:schemeClr val="accent2">
                    <a:lumMod val="75000"/>
                  </a:schemeClr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Le Livret SED'OCC</a:t>
            </a:r>
            <a:endParaRPr lang="fr-FR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457200" y="1005840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>
                <a:solidFill>
                  <a:schemeClr val="accent2">
                    <a:lumMod val="75000"/>
                  </a:schemeClr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Pour les enfants</a:t>
            </a:r>
            <a:endParaRPr lang="fr-FR" sz="2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 3"/>
          <p:cNvSpPr>
            <a:spLocks/>
          </p:cNvSpPr>
          <p:nvPr/>
        </p:nvSpPr>
        <p:spPr>
          <a:xfrm>
            <a:off x="457200" y="2103120"/>
            <a:ext cx="6647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600" dirty="0">
                <a:solidFill>
                  <a:srgbClr val="8B1A2B"/>
                </a:solidFill>
                <a:latin typeface="Poppins"/>
              </a:rPr>
              <a:t>Le mystère de la colle du corps</a:t>
            </a:r>
            <a:endParaRPr lang="fr-FR" sz="3200" dirty="0"/>
          </a:p>
          <a:p>
            <a:pPr algn="ctr"/>
            <a:endParaRPr lang="fr-FR" sz="1600" dirty="0"/>
          </a:p>
          <a:p>
            <a:pPr algn="ctr"/>
            <a:r>
              <a:rPr lang="fr-FR" sz="2400" dirty="0">
                <a:solidFill>
                  <a:srgbClr val="333333"/>
                </a:solidFill>
                <a:latin typeface="Poppins"/>
              </a:rPr>
              <a:t>Comprendre le syndrome d'Ehlers-Danlos</a:t>
            </a:r>
          </a:p>
          <a:p>
            <a:pPr algn="ctr">
              <a:spcBef>
                <a:spcPts val="1200"/>
              </a:spcBef>
            </a:pPr>
            <a:r>
              <a:rPr sz="2200" b="0">
                <a:solidFill>
                  <a:srgbClr val="8B1A2B"/>
                </a:solidFill>
                <a:latin typeface="Poppins"/>
              </a:rPr>
              <a:t>Viens découvrir avec moi le secret de la colle magique !</a:t>
            </a:r>
          </a:p>
        </p:txBody>
      </p:sp>
      <p:pic>
        <p:nvPicPr>
          <p:cNvPr id="9" name="Image 2" descr="unpacked/ppt/media/image_E673173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044" y="4299140"/>
            <a:ext cx="4500000" cy="4500000"/>
          </a:xfrm>
          <a:prstGeom prst="roundRect">
            <a:avLst>
              <a:gd name="adj" fmla="val 3000"/>
            </a:avLst>
          </a:prstGeom>
          <a:effectLst>
            <a:outerShdw blurRad="76200" dist="38100" dir="5400000" algn="t" rotWithShape="0">
              <a:srgbClr val="8B1A2B">
                <a:alpha val="22000"/>
              </a:srgbClr>
            </a:outerShdw>
          </a:effectLst>
        </p:spPr>
      </p:pic>
      <p:sp>
        <p:nvSpPr>
          <p:cNvPr id="99" name="Footer"/>
          <p:cNvSpPr/>
          <p:nvPr/>
        </p:nvSpPr>
        <p:spPr>
          <a:xfrm>
            <a:off x="500000" y="10300000"/>
            <a:ext cx="65628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i="1">
                <a:solidFill>
                  <a:srgbClr val="666666"/>
                </a:solidFill>
                <a:latin typeface="Poppins" pitchFamily="34" charset="0"/>
                <a:ea typeface="Calibri" pitchFamily="34" charset="0"/>
                <a:cs typeface="Calibri" pitchFamily="34" charset="0"/>
              </a:rPr>
              <a:t>Fait par l’association Sed’Occ France 04/2026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510070F-E6BE-C44E-8EB5-ACEAF57316C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802" t="10888" r="15836" b="19876"/>
          <a:stretch/>
        </p:blipFill>
        <p:spPr>
          <a:xfrm>
            <a:off x="6300000" y="9540000"/>
            <a:ext cx="1080000" cy="100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ooter"/>
          <p:cNvSpPr/>
          <p:nvPr/>
        </p:nvSpPr>
        <p:spPr>
          <a:xfrm>
            <a:off x="500000" y="10300000"/>
            <a:ext cx="65628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i="1">
                <a:solidFill>
                  <a:srgbClr val="666666"/>
                </a:solidFill>
                <a:latin typeface="Poppins" pitchFamily="34" charset="0"/>
                <a:ea typeface="Calibri" pitchFamily="34" charset="0"/>
                <a:cs typeface="Calibri" pitchFamily="34" charset="0"/>
              </a:rPr>
              <a:t>Fait par l’association Sed’Occ France 04/2026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510070F-E6BE-C44E-8EB5-ACEAF57316C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02" t="10888" r="15836" b="19876"/>
          <a:stretch/>
        </p:blipFill>
        <p:spPr>
          <a:xfrm>
            <a:off x="6300000" y="9540000"/>
            <a:ext cx="1080000" cy="10079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27FF1EE-10F5-5446-9822-C9D4DD13548A}"/>
              </a:ext>
            </a:extLst>
          </p:cNvPr>
          <p:cNvSpPr/>
          <p:nvPr/>
        </p:nvSpPr>
        <p:spPr>
          <a:xfrm>
            <a:off x="468000" y="360000"/>
            <a:ext cx="6624000" cy="9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b="1" dirty="0">
                <a:solidFill>
                  <a:srgbClr val="8B1A2B"/>
                </a:solidFill>
                <a:latin typeface="Poppins"/>
              </a:rPr>
              <a:t>Notre corps, une merveilleuse maison !</a:t>
            </a:r>
          </a:p>
        </p:txBody>
      </p:sp>
      <p:pic>
        <p:nvPicPr>
          <p:cNvPr id="10" name="Picture 2" descr="image.jpg">
            <a:extLst>
              <a:ext uri="{FF2B5EF4-FFF2-40B4-BE49-F238E27FC236}">
                <a16:creationId xmlns:a16="http://schemas.microsoft.com/office/drawing/2014/main" id="{5C9D2762-DF5F-5344-A758-3103BDA24A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00" y="1440000"/>
            <a:ext cx="5904000" cy="2520000"/>
          </a:xfrm>
          <a:prstGeom prst="roundRect">
            <a:avLst>
              <a:gd name="adj" fmla="val 3000"/>
            </a:avLst>
          </a:prstGeom>
          <a:effectLst>
            <a:outerShdw blurRad="76200" dist="38100" dir="5400000" algn="t" rotWithShape="0">
              <a:srgbClr val="8B1A2B">
                <a:alpha val="22000"/>
              </a:srgbClr>
            </a:outerShdw>
          </a:effectLst>
        </p:spPr>
      </p:pic>
      <p:pic>
        <p:nvPicPr>
          <p:cNvPr id="12" name="Picture 3" descr="image.jpg">
            <a:extLst>
              <a:ext uri="{FF2B5EF4-FFF2-40B4-BE49-F238E27FC236}">
                <a16:creationId xmlns:a16="http://schemas.microsoft.com/office/drawing/2014/main" id="{0A4FCFEE-0379-6C4B-A89F-ABA9E58E8E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000" y="5220000"/>
            <a:ext cx="3060000" cy="3420000"/>
          </a:xfrm>
          <a:prstGeom prst="roundRect">
            <a:avLst>
              <a:gd name="adj" fmla="val 3000"/>
            </a:avLst>
          </a:prstGeom>
          <a:effectLst>
            <a:outerShdw blurRad="76200" dist="38100" dir="5400000" algn="t" rotWithShape="0">
              <a:srgbClr val="8B1A2B">
                <a:alpha val="22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AF9DC8A-7D6E-0C40-975A-3926EE7E51E9}"/>
              </a:ext>
            </a:extLst>
          </p:cNvPr>
          <p:cNvSpPr/>
          <p:nvPr/>
        </p:nvSpPr>
        <p:spPr>
          <a:xfrm>
            <a:off x="468000" y="8820000"/>
            <a:ext cx="6624000" cy="9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solidFill>
                  <a:srgbClr val="333333"/>
                </a:solidFill>
                <a:latin typeface="Poppins"/>
              </a:rPr>
              <a:t>Elle aide à tenir nos os, notre peau</a:t>
            </a:r>
          </a:p>
          <a:p>
            <a:pPr algn="ctr"/>
            <a:r>
              <a:rPr lang="fr-FR" sz="2400" dirty="0">
                <a:solidFill>
                  <a:srgbClr val="333333"/>
                </a:solidFill>
                <a:latin typeface="Poppins"/>
              </a:rPr>
              <a:t>et tout le reste.</a:t>
            </a:r>
            <a:endParaRPr lang="fr-FR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BEE8E9-39E8-CC42-969C-56935A196227}"/>
              </a:ext>
            </a:extLst>
          </p:cNvPr>
          <p:cNvSpPr/>
          <p:nvPr/>
        </p:nvSpPr>
        <p:spPr>
          <a:xfrm>
            <a:off x="468000" y="4140000"/>
            <a:ext cx="6624000" cy="9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solidFill>
                  <a:srgbClr val="333333"/>
                </a:solidFill>
                <a:latin typeface="Poppins"/>
              </a:rPr>
              <a:t>Dans notre corps, il y a une super colle magique qui s'appelle </a:t>
            </a:r>
            <a:r>
              <a:rPr lang="fr-FR" sz="2400" dirty="0">
                <a:solidFill>
                  <a:schemeClr val="accent2">
                    <a:lumMod val="75000"/>
                  </a:schemeClr>
                </a:solidFill>
                <a:latin typeface="Poppins"/>
              </a:rPr>
              <a:t>le collagène</a:t>
            </a:r>
            <a:r>
              <a:rPr lang="fr-FR" sz="2400" dirty="0">
                <a:solidFill>
                  <a:srgbClr val="333333"/>
                </a:solidFill>
                <a:latin typeface="Poppins"/>
              </a:rPr>
              <a:t>.</a:t>
            </a:r>
          </a:p>
        </p:txBody>
      </p:sp>
      <p:sp>
        <p:nvSpPr>
          <p:cNvPr id="312" name="Dot 2-2"/>
          <p:cNvSpPr/>
          <p:nvPr/>
        </p:nvSpPr>
        <p:spPr>
          <a:xfrm>
            <a:off x="5058911" y="6154846"/>
            <a:ext cx="79200" cy="7920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B1A2B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11" name="Dot 2-1"/>
          <p:cNvSpPr/>
          <p:nvPr/>
        </p:nvSpPr>
        <p:spPr>
          <a:xfrm>
            <a:off x="5138111" y="6305909"/>
            <a:ext cx="125999" cy="125999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B1A2B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10" name="Dot 2-0"/>
          <p:cNvSpPr/>
          <p:nvPr/>
        </p:nvSpPr>
        <p:spPr>
          <a:xfrm>
            <a:off x="5263381" y="6470606"/>
            <a:ext cx="180000" cy="18000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B1A2B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01" name="HeroBubble 2"/>
          <p:cNvSpPr/>
          <p:nvPr/>
        </p:nvSpPr>
        <p:spPr>
          <a:xfrm>
            <a:off x="5232734" y="6780092"/>
            <a:ext cx="1295999" cy="1295999"/>
          </a:xfrm>
          <a:prstGeom prst="ellipse">
            <a:avLst/>
          </a:prstGeom>
          <a:solidFill>
            <a:srgbClr val="FFFFFF">
              <a:alpha val="70000"/>
            </a:srgbClr>
          </a:solidFill>
          <a:ln w="15875">
            <a:solidFill>
              <a:srgbClr val="8B1A2B">
                <a:alpha val="35000"/>
              </a:srgbClr>
            </a:solidFill>
          </a:ln>
          <a:effectLst>
            <a:outerShdw blurRad="40000" dist="20000" dir="5400000" algn="t" rotWithShape="0">
              <a:srgbClr val="8B1A2B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3" name="Image 1" descr="unpacked/ppt/media/image_E673173E.jpg">
            <a:extLst>
              <a:ext uri="{FF2B5EF4-FFF2-40B4-BE49-F238E27FC236}">
                <a16:creationId xmlns:a16="http://schemas.microsoft.com/office/drawing/2014/main" id="{8DFDDAB1-CD7E-8D4B-93C9-16F9FFA77A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3381" y="6978092"/>
            <a:ext cx="1007999" cy="100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715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647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800" b="1" dirty="0">
                <a:solidFill>
                  <a:srgbClr val="8B1A2B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Qu'est-ce que le SED ?</a:t>
            </a:r>
            <a:endParaRPr lang="fr-FR" sz="2800" dirty="0"/>
          </a:p>
        </p:txBody>
      </p:sp>
      <p:pic>
        <p:nvPicPr>
          <p:cNvPr id="3" name="Image 0" descr="unpacked/ppt/media/image_A81BC8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05" y="1694321"/>
            <a:ext cx="2563713" cy="4114800"/>
          </a:xfrm>
          <a:prstGeom prst="roundRect">
            <a:avLst>
              <a:gd name="adj" fmla="val 3000"/>
            </a:avLst>
          </a:prstGeom>
          <a:effectLst>
            <a:outerShdw blurRad="76200" dist="38100" dir="5400000" algn="t" rotWithShape="0">
              <a:srgbClr val="8B1A2B">
                <a:alpha val="22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457200" y="6600789"/>
            <a:ext cx="6647688" cy="2563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fr-FR" sz="2400" dirty="0">
              <a:solidFill>
                <a:srgbClr val="333333"/>
              </a:solidFill>
              <a:latin typeface="Poppins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fr-FR" sz="2400" b="1" dirty="0">
                <a:solidFill>
                  <a:srgbClr val="333333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Ce n'est pas une maladie contagieuse, c'est une différence.</a:t>
            </a:r>
            <a:endParaRPr lang="fr-FR" sz="2400" dirty="0"/>
          </a:p>
          <a:p>
            <a:pPr marL="0" indent="0" algn="l">
              <a:buNone/>
            </a:pPr>
            <a:endParaRPr lang="fr-FR" sz="2400" dirty="0"/>
          </a:p>
          <a:p>
            <a:pPr marL="0" indent="0" algn="ctr">
              <a:buNone/>
            </a:pPr>
            <a:r>
              <a:rPr lang="fr-FR" sz="2400" b="0" dirty="0">
                <a:solidFill>
                  <a:srgbClr val="333333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La peau, les articulations, les muscles... plein de parties du corps ont besoin de cette colle !</a:t>
            </a:r>
            <a:endParaRPr lang="fr-FR" sz="2400" dirty="0"/>
          </a:p>
        </p:txBody>
      </p:sp>
      <p:sp>
        <p:nvSpPr>
          <p:cNvPr id="322" name="Dot 3-2"/>
          <p:cNvSpPr/>
          <p:nvPr/>
        </p:nvSpPr>
        <p:spPr>
          <a:xfrm>
            <a:off x="5032801" y="4586031"/>
            <a:ext cx="79200" cy="7920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B1A2B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21" name="Dot 3-1"/>
          <p:cNvSpPr/>
          <p:nvPr/>
        </p:nvSpPr>
        <p:spPr>
          <a:xfrm>
            <a:off x="5112001" y="4761480"/>
            <a:ext cx="125999" cy="125999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B1A2B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20" name="Dot 3-0"/>
          <p:cNvSpPr/>
          <p:nvPr/>
        </p:nvSpPr>
        <p:spPr>
          <a:xfrm>
            <a:off x="5206710" y="4950167"/>
            <a:ext cx="180000" cy="18000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B1A2B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02" name="HeroBubble 3"/>
          <p:cNvSpPr/>
          <p:nvPr/>
        </p:nvSpPr>
        <p:spPr>
          <a:xfrm>
            <a:off x="5158003" y="5181663"/>
            <a:ext cx="1295999" cy="1295999"/>
          </a:xfrm>
          <a:prstGeom prst="ellipse">
            <a:avLst/>
          </a:prstGeom>
          <a:solidFill>
            <a:srgbClr val="FFFFFF">
              <a:alpha val="70000"/>
            </a:srgbClr>
          </a:solidFill>
          <a:ln w="15875">
            <a:solidFill>
              <a:srgbClr val="8B1A2B">
                <a:alpha val="35000"/>
              </a:srgbClr>
            </a:solidFill>
          </a:ln>
          <a:effectLst>
            <a:outerShdw blurRad="40000" dist="20000" dir="5400000" algn="t" rotWithShape="0">
              <a:srgbClr val="8B1A2B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1" descr="unpacked/ppt/media/image_E673173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3354" y="5325662"/>
            <a:ext cx="1007999" cy="1007999"/>
          </a:xfrm>
          <a:prstGeom prst="rect">
            <a:avLst/>
          </a:prstGeom>
        </p:spPr>
      </p:pic>
      <p:sp>
        <p:nvSpPr>
          <p:cNvPr id="99" name="Footer"/>
          <p:cNvSpPr/>
          <p:nvPr/>
        </p:nvSpPr>
        <p:spPr>
          <a:xfrm>
            <a:off x="500000" y="10300000"/>
            <a:ext cx="65628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i="1">
                <a:solidFill>
                  <a:srgbClr val="666666"/>
                </a:solidFill>
                <a:latin typeface="Poppins" pitchFamily="34" charset="0"/>
                <a:ea typeface="Calibri" pitchFamily="34" charset="0"/>
                <a:cs typeface="Calibri" pitchFamily="34" charset="0"/>
              </a:rPr>
              <a:t>Fait par l’association Sed’Occ France 04/2026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272B92B-21E4-464F-9F8E-4A62B1E1618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802" t="10888" r="15836" b="19876"/>
          <a:stretch/>
        </p:blipFill>
        <p:spPr>
          <a:xfrm>
            <a:off x="6300000" y="9540000"/>
            <a:ext cx="1080000" cy="100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75A2B46-85AF-3F41-BFD8-F771AAC13A71}"/>
              </a:ext>
            </a:extLst>
          </p:cNvPr>
          <p:cNvSpPr/>
          <p:nvPr/>
        </p:nvSpPr>
        <p:spPr>
          <a:xfrm>
            <a:off x="3426878" y="1812729"/>
            <a:ext cx="346225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solidFill>
                  <a:srgbClr val="333333"/>
                </a:solidFill>
                <a:latin typeface="Poppins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 les personnes avec le SED, la recette de cette colle est un peu différente.</a:t>
            </a:r>
          </a:p>
          <a:p>
            <a:pPr algn="ctr"/>
            <a:r>
              <a:rPr lang="fr-FR" sz="2400" dirty="0">
                <a:solidFill>
                  <a:srgbClr val="333333"/>
                </a:solidFill>
                <a:latin typeface="Poppins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Elle est moins solide ou trop élastique.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000" y="360000"/>
            <a:ext cx="662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800" b="1" dirty="0">
                <a:solidFill>
                  <a:srgbClr val="8B1A2B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La grande batterie à plat</a:t>
            </a:r>
            <a:endParaRPr lang="fr-FR" sz="2800" dirty="0"/>
          </a:p>
        </p:txBody>
      </p:sp>
      <p:pic>
        <p:nvPicPr>
          <p:cNvPr id="3" name="Image 0" descr="unpacked/ppt/media/image_F726E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0000" y="1260000"/>
            <a:ext cx="3240000" cy="2520000"/>
          </a:xfrm>
          <a:prstGeom prst="roundRect">
            <a:avLst>
              <a:gd name="adj" fmla="val 3000"/>
            </a:avLst>
          </a:prstGeom>
          <a:effectLst>
            <a:outerShdw blurRad="76200" dist="38100" dir="5400000" algn="t" rotWithShape="0">
              <a:srgbClr val="8B1A2B">
                <a:alpha val="22000"/>
              </a:srgbClr>
            </a:outerShdw>
          </a:effectLst>
        </p:spPr>
      </p:pic>
      <p:pic>
        <p:nvPicPr>
          <p:cNvPr id="4" name="Image 1" descr="unpacked/ppt/media/image_23A1A8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0000" y="5400000"/>
            <a:ext cx="2700000" cy="3420000"/>
          </a:xfrm>
          <a:prstGeom prst="roundRect">
            <a:avLst>
              <a:gd name="adj" fmla="val 3000"/>
            </a:avLst>
          </a:prstGeom>
          <a:effectLst>
            <a:outerShdw blurRad="76200" dist="38100" dir="5400000" algn="t" rotWithShape="0">
              <a:srgbClr val="8B1A2B">
                <a:alpha val="22000"/>
              </a:srgbClr>
            </a:outerShdw>
          </a:effectLst>
        </p:spPr>
      </p:pic>
      <p:sp>
        <p:nvSpPr>
          <p:cNvPr id="5" name="Text 1"/>
          <p:cNvSpPr/>
          <p:nvPr/>
        </p:nvSpPr>
        <p:spPr>
          <a:xfrm>
            <a:off x="468000" y="6840000"/>
            <a:ext cx="3600000" cy="19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fr-FR" sz="2400" dirty="0">
              <a:solidFill>
                <a:srgbClr val="333333"/>
              </a:solidFill>
              <a:latin typeface="Poppins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fr-FR" sz="2400" dirty="0">
              <a:solidFill>
                <a:srgbClr val="333333"/>
              </a:solidFill>
              <a:latin typeface="Poppins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fr-FR" sz="2400" dirty="0">
                <a:solidFill>
                  <a:srgbClr val="333333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C'est pour cela qu'on est souvent fatigué, même en ayant bien dormi.</a:t>
            </a:r>
            <a:endParaRPr lang="fr-FR" sz="2400" dirty="0"/>
          </a:p>
        </p:txBody>
      </p:sp>
      <p:sp>
        <p:nvSpPr>
          <p:cNvPr id="332" name="Dot 4-2"/>
          <p:cNvSpPr/>
          <p:nvPr/>
        </p:nvSpPr>
        <p:spPr>
          <a:xfrm>
            <a:off x="2357373" y="5388801"/>
            <a:ext cx="79200" cy="7920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B1A2B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31" name="Dot 4-1"/>
          <p:cNvSpPr/>
          <p:nvPr/>
        </p:nvSpPr>
        <p:spPr>
          <a:xfrm>
            <a:off x="2231374" y="5516001"/>
            <a:ext cx="125999" cy="125999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B1A2B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30" name="Dot 4-0"/>
          <p:cNvSpPr/>
          <p:nvPr/>
        </p:nvSpPr>
        <p:spPr>
          <a:xfrm>
            <a:off x="2070000" y="5690000"/>
            <a:ext cx="180000" cy="18000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B1A2B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03" name="HeroBubble 4"/>
          <p:cNvSpPr/>
          <p:nvPr/>
        </p:nvSpPr>
        <p:spPr>
          <a:xfrm rot="2250274">
            <a:off x="905848" y="5902580"/>
            <a:ext cx="1295999" cy="1295999"/>
          </a:xfrm>
          <a:prstGeom prst="ellipse">
            <a:avLst/>
          </a:prstGeom>
          <a:solidFill>
            <a:srgbClr val="FFFFFF">
              <a:alpha val="70000"/>
            </a:srgbClr>
          </a:solidFill>
          <a:ln w="15875">
            <a:solidFill>
              <a:srgbClr val="8B1A2B">
                <a:alpha val="35000"/>
              </a:srgbClr>
            </a:solidFill>
          </a:ln>
          <a:effectLst>
            <a:outerShdw blurRad="40000" dist="20000" dir="5400000" algn="t" rotWithShape="0">
              <a:srgbClr val="8B1A2B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2" descr="unpacked/ppt/media/image_E673173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320" y="5982629"/>
            <a:ext cx="1007999" cy="1007999"/>
          </a:xfrm>
          <a:prstGeom prst="rect">
            <a:avLst/>
          </a:prstGeom>
        </p:spPr>
      </p:pic>
      <p:sp>
        <p:nvSpPr>
          <p:cNvPr id="99" name="Footer"/>
          <p:cNvSpPr/>
          <p:nvPr/>
        </p:nvSpPr>
        <p:spPr>
          <a:xfrm>
            <a:off x="500000" y="10300000"/>
            <a:ext cx="65628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i="1">
                <a:solidFill>
                  <a:srgbClr val="666666"/>
                </a:solidFill>
                <a:latin typeface="Poppins" pitchFamily="34" charset="0"/>
                <a:ea typeface="Calibri" pitchFamily="34" charset="0"/>
                <a:cs typeface="Calibri" pitchFamily="34" charset="0"/>
              </a:rPr>
              <a:t>Fait par l’association Sed’Occ France 04/2026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1AAFE20-76B3-534B-9371-0C868F1360A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9802" t="10888" r="15836" b="19876"/>
          <a:stretch/>
        </p:blipFill>
        <p:spPr>
          <a:xfrm>
            <a:off x="6300000" y="9540000"/>
            <a:ext cx="1080000" cy="1007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784CDDD-5741-C048-AFC0-15F93C4CAE06}"/>
              </a:ext>
            </a:extLst>
          </p:cNvPr>
          <p:cNvSpPr/>
          <p:nvPr/>
        </p:nvSpPr>
        <p:spPr>
          <a:xfrm>
            <a:off x="438850" y="3890000"/>
            <a:ext cx="6624000" cy="126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solidFill>
                  <a:srgbClr val="333333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Le corps doit faire beaucoup plus d'efforts pour compenser la colle lâche, comme un muscle qui travaille trop.</a:t>
            </a:r>
            <a:endParaRPr lang="fr-FR" sz="2400" dirty="0"/>
          </a:p>
          <a:p>
            <a:pPr algn="ctr"/>
            <a:endParaRPr lang="fr-FR" dirty="0">
              <a:solidFill>
                <a:srgbClr val="333333"/>
              </a:solidFill>
              <a:latin typeface="Poppins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647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800" b="1" dirty="0">
                <a:solidFill>
                  <a:srgbClr val="8B1A2B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La douleur (les alarmes du corps)</a:t>
            </a:r>
            <a:endParaRPr lang="fr-FR" sz="2800" dirty="0"/>
          </a:p>
        </p:txBody>
      </p:sp>
      <p:pic>
        <p:nvPicPr>
          <p:cNvPr id="3" name="Image 0" descr="unpacked/ppt/media/image_A6C4BBD3.jpg"/>
          <p:cNvPicPr>
            <a:picLocks noChangeAspect="1"/>
          </p:cNvPicPr>
          <p:nvPr/>
        </p:nvPicPr>
        <p:blipFill>
          <a:blip r:embed="rId4"/>
          <a:srcRect t="8771" b="8771"/>
          <a:stretch/>
        </p:blipFill>
        <p:spPr>
          <a:xfrm>
            <a:off x="1260000" y="1260000"/>
            <a:ext cx="5040000" cy="3960000"/>
          </a:xfrm>
          <a:prstGeom prst="roundRect">
            <a:avLst>
              <a:gd name="adj" fmla="val 3000"/>
            </a:avLst>
          </a:prstGeom>
          <a:effectLst>
            <a:outerShdw blurRad="76200" dist="38100" dir="5400000" algn="t" rotWithShape="0">
              <a:srgbClr val="8B1A2B">
                <a:alpha val="22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468000" y="6840000"/>
            <a:ext cx="6624000" cy="2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fr-FR" sz="2400" dirty="0"/>
          </a:p>
          <a:p>
            <a:pPr marL="0" indent="0" algn="ctr">
              <a:buNone/>
            </a:pPr>
            <a:r>
              <a:rPr lang="fr-FR" sz="2400" dirty="0">
                <a:solidFill>
                  <a:srgbClr val="333333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On apprend à écouter ces alarmes et à se reposer quand elles sonnent.</a:t>
            </a:r>
            <a:endParaRPr lang="fr-FR" sz="2400" dirty="0"/>
          </a:p>
          <a:p>
            <a:pPr algn="ctr"/>
            <a:endParaRPr lang="fr-FR" sz="2400" dirty="0"/>
          </a:p>
          <a:p>
            <a:pPr algn="ctr"/>
            <a:r>
              <a:rPr lang="fr-FR" sz="2400" b="1" dirty="0">
                <a:solidFill>
                  <a:srgbClr val="8B1A2B"/>
                </a:solidFill>
                <a:latin typeface="Poppins"/>
              </a:rPr>
              <a:t>Mais on peut apprendre à apprivoiser la douleur, avec l'aide des docteurs et de sa famille !</a:t>
            </a:r>
          </a:p>
        </p:txBody>
      </p:sp>
      <p:sp>
        <p:nvSpPr>
          <p:cNvPr id="342" name="Dot 5-2"/>
          <p:cNvSpPr/>
          <p:nvPr/>
        </p:nvSpPr>
        <p:spPr>
          <a:xfrm>
            <a:off x="4460401" y="6607933"/>
            <a:ext cx="79200" cy="7920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B1A2B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41" name="Dot 5-1"/>
          <p:cNvSpPr/>
          <p:nvPr/>
        </p:nvSpPr>
        <p:spPr>
          <a:xfrm>
            <a:off x="4632825" y="6659999"/>
            <a:ext cx="125999" cy="125999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B1A2B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40" name="Dot 5-0"/>
          <p:cNvSpPr/>
          <p:nvPr/>
        </p:nvSpPr>
        <p:spPr>
          <a:xfrm>
            <a:off x="4831913" y="6715725"/>
            <a:ext cx="180000" cy="18000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B1A2B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04" name="HeroBubble 5"/>
          <p:cNvSpPr/>
          <p:nvPr/>
        </p:nvSpPr>
        <p:spPr>
          <a:xfrm>
            <a:off x="5184546" y="5718537"/>
            <a:ext cx="1295999" cy="1295999"/>
          </a:xfrm>
          <a:prstGeom prst="ellipse">
            <a:avLst/>
          </a:prstGeom>
          <a:solidFill>
            <a:srgbClr val="FFFFFF">
              <a:alpha val="70000"/>
            </a:srgbClr>
          </a:solidFill>
          <a:ln w="15875">
            <a:solidFill>
              <a:srgbClr val="8B1A2B">
                <a:alpha val="35000"/>
              </a:srgbClr>
            </a:solidFill>
          </a:ln>
          <a:effectLst>
            <a:outerShdw blurRad="40000" dist="20000" dir="5400000" algn="t" rotWithShape="0">
              <a:srgbClr val="8B1A2B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1" descr="unpacked/ppt/media/image_E673173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3670" y="5949750"/>
            <a:ext cx="1007999" cy="1007999"/>
          </a:xfrm>
          <a:prstGeom prst="rect">
            <a:avLst/>
          </a:prstGeom>
        </p:spPr>
      </p:pic>
      <p:sp>
        <p:nvSpPr>
          <p:cNvPr id="99" name="Footer"/>
          <p:cNvSpPr/>
          <p:nvPr/>
        </p:nvSpPr>
        <p:spPr>
          <a:xfrm>
            <a:off x="500000" y="10300000"/>
            <a:ext cx="65628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i="1">
                <a:solidFill>
                  <a:srgbClr val="666666"/>
                </a:solidFill>
                <a:latin typeface="Poppins" pitchFamily="34" charset="0"/>
                <a:ea typeface="Calibri" pitchFamily="34" charset="0"/>
                <a:cs typeface="Calibri" pitchFamily="34" charset="0"/>
              </a:rPr>
              <a:t>Fait par l’association Sed’Occ France 04/2026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9458873-06AC-4544-9442-F4907A7EC44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802" t="10888" r="15836" b="19876"/>
          <a:stretch/>
        </p:blipFill>
        <p:spPr>
          <a:xfrm>
            <a:off x="6300000" y="9540000"/>
            <a:ext cx="1080000" cy="100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FF46D8-13B3-F144-B385-CDB16F8714CF}"/>
              </a:ext>
            </a:extLst>
          </p:cNvPr>
          <p:cNvSpPr/>
          <p:nvPr/>
        </p:nvSpPr>
        <p:spPr>
          <a:xfrm>
            <a:off x="468000" y="5580000"/>
            <a:ext cx="42278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333333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Avoir mal, c'est le corps qui envoie des signaux d'alarme.</a:t>
            </a:r>
            <a:endParaRPr lang="fr-FR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0000"/>
            <a:ext cx="6647688" cy="827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800" b="1" dirty="0">
                <a:solidFill>
                  <a:srgbClr val="8B1A2B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Les aides et astuces</a:t>
            </a:r>
            <a:endParaRPr lang="fr-FR" sz="2800" dirty="0"/>
          </a:p>
          <a:p>
            <a:pPr marL="0" indent="0" algn="ctr">
              <a:buNone/>
            </a:pPr>
            <a:r>
              <a:rPr lang="fr-FR" sz="2800" b="1" dirty="0">
                <a:solidFill>
                  <a:srgbClr val="8B1A2B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(les supers outils)</a:t>
            </a:r>
            <a:endParaRPr lang="fr-FR" sz="2800" dirty="0"/>
          </a:p>
        </p:txBody>
      </p:sp>
      <p:sp>
        <p:nvSpPr>
          <p:cNvPr id="99" name="Footer"/>
          <p:cNvSpPr/>
          <p:nvPr/>
        </p:nvSpPr>
        <p:spPr>
          <a:xfrm>
            <a:off x="500000" y="10300000"/>
            <a:ext cx="65628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i="1">
                <a:solidFill>
                  <a:srgbClr val="666666"/>
                </a:solidFill>
                <a:latin typeface="Poppins" pitchFamily="34" charset="0"/>
                <a:ea typeface="Calibri" pitchFamily="34" charset="0"/>
                <a:cs typeface="Calibri" pitchFamily="34" charset="0"/>
              </a:rPr>
              <a:t>Fait par l’association Sed’Occ France 04/2026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6BDF365-924F-7648-87CF-5EA68FCA163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02" t="10888" r="15836" b="19876"/>
          <a:stretch/>
        </p:blipFill>
        <p:spPr>
          <a:xfrm>
            <a:off x="6300000" y="9540000"/>
            <a:ext cx="1080000" cy="1007999"/>
          </a:xfrm>
          <a:prstGeom prst="rect">
            <a:avLst/>
          </a:prstGeom>
        </p:spPr>
      </p:pic>
      <p:pic>
        <p:nvPicPr>
          <p:cNvPr id="100" name="Picture 99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" y="4209750"/>
            <a:ext cx="1896000" cy="1872000"/>
          </a:xfrm>
          <a:prstGeom prst="roundRect">
            <a:avLst>
              <a:gd name="adj" fmla="val 3000"/>
            </a:avLst>
          </a:prstGeom>
          <a:effectLst>
            <a:outerShdw blurRad="76200" dist="38100" dir="5400000" algn="t" rotWithShape="0">
              <a:srgbClr val="8B1A2B">
                <a:alpha val="22000"/>
              </a:srgbClr>
            </a:outerShdw>
          </a:effectLst>
        </p:spPr>
      </p:pic>
      <p:pic>
        <p:nvPicPr>
          <p:cNvPr id="101" name="Picture 100" descr="imag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75" y="4220850"/>
            <a:ext cx="1896000" cy="1872000"/>
          </a:xfrm>
          <a:prstGeom prst="roundRect">
            <a:avLst>
              <a:gd name="adj" fmla="val 3000"/>
            </a:avLst>
          </a:prstGeom>
          <a:effectLst>
            <a:outerShdw blurRad="76200" dist="38100" dir="5400000" algn="t" rotWithShape="0">
              <a:srgbClr val="8B1A2B">
                <a:alpha val="22000"/>
              </a:srgbClr>
            </a:outerShdw>
          </a:effectLst>
        </p:spPr>
      </p:pic>
      <p:pic>
        <p:nvPicPr>
          <p:cNvPr id="102" name="Picture 101" descr="imag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8450" y="4219453"/>
            <a:ext cx="1896000" cy="1872000"/>
          </a:xfrm>
          <a:prstGeom prst="roundRect">
            <a:avLst>
              <a:gd name="adj" fmla="val 3000"/>
            </a:avLst>
          </a:prstGeom>
          <a:effectLst>
            <a:outerShdw blurRad="76200" dist="38100" dir="5400000" algn="t" rotWithShape="0">
              <a:srgbClr val="8B1A2B">
                <a:alpha val="22000"/>
              </a:srgbClr>
            </a:outerShdw>
          </a:effectLst>
        </p:spPr>
      </p:pic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000" y="7004000"/>
            <a:ext cx="1896000" cy="1872000"/>
          </a:xfrm>
          <a:prstGeom prst="roundRect">
            <a:avLst>
              <a:gd name="adj" fmla="val 3000"/>
            </a:avLst>
          </a:prstGeom>
          <a:effectLst>
            <a:outerShdw blurRad="76200" dist="38100" dir="5400000" algn="t" rotWithShape="0">
              <a:srgbClr val="8B1A2B">
                <a:alpha val="22000"/>
              </a:srgbClr>
            </a:outerShdw>
          </a:effectLst>
        </p:spPr>
      </p:pic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2000" y="7055750"/>
            <a:ext cx="1896000" cy="1872000"/>
          </a:xfrm>
          <a:prstGeom prst="roundRect">
            <a:avLst>
              <a:gd name="adj" fmla="val 3000"/>
            </a:avLst>
          </a:prstGeom>
          <a:effectLst>
            <a:outerShdw blurRad="76200" dist="38100" dir="5400000" algn="t" rotWithShape="0">
              <a:srgbClr val="8B1A2B">
                <a:alpha val="22000"/>
              </a:srgbClr>
            </a:outerShdw>
          </a:effectLst>
        </p:spPr>
      </p:pic>
      <p:pic>
        <p:nvPicPr>
          <p:cNvPr id="105" name="Picture 10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4000" y="7092000"/>
            <a:ext cx="1896000" cy="1872000"/>
          </a:xfrm>
          <a:prstGeom prst="roundRect">
            <a:avLst>
              <a:gd name="adj" fmla="val 3000"/>
            </a:avLst>
          </a:prstGeom>
          <a:effectLst>
            <a:outerShdw blurRad="76200" dist="38100" dir="5400000" algn="t" rotWithShape="0">
              <a:srgbClr val="8B1A2B">
                <a:alpha val="22000"/>
              </a:srgbClr>
            </a:outerShdw>
          </a:effectLst>
        </p:spPr>
      </p:pic>
      <p:sp>
        <p:nvSpPr>
          <p:cNvPr id="352" name="Dot 6-2"/>
          <p:cNvSpPr/>
          <p:nvPr/>
        </p:nvSpPr>
        <p:spPr>
          <a:xfrm>
            <a:off x="4920901" y="2336400"/>
            <a:ext cx="79200" cy="7920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B1A2B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51" name="Dot 6-1"/>
          <p:cNvSpPr/>
          <p:nvPr/>
        </p:nvSpPr>
        <p:spPr>
          <a:xfrm>
            <a:off x="5074955" y="2207702"/>
            <a:ext cx="125999" cy="125999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B1A2B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50" name="Dot 6-0"/>
          <p:cNvSpPr/>
          <p:nvPr/>
        </p:nvSpPr>
        <p:spPr>
          <a:xfrm flipH="1">
            <a:off x="5324241" y="2039404"/>
            <a:ext cx="169809" cy="168298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B1A2B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05" name="HeroBubble 6"/>
          <p:cNvSpPr/>
          <p:nvPr/>
        </p:nvSpPr>
        <p:spPr>
          <a:xfrm>
            <a:off x="5538451" y="2171702"/>
            <a:ext cx="1295999" cy="1295999"/>
          </a:xfrm>
          <a:prstGeom prst="ellipse">
            <a:avLst/>
          </a:prstGeom>
          <a:solidFill>
            <a:srgbClr val="FFFFFF">
              <a:alpha val="70000"/>
            </a:srgbClr>
          </a:solidFill>
          <a:ln w="15875">
            <a:solidFill>
              <a:srgbClr val="8B1A2B">
                <a:alpha val="35000"/>
              </a:srgbClr>
            </a:solidFill>
          </a:ln>
          <a:effectLst>
            <a:outerShdw blurRad="40000" dist="20000" dir="5400000" algn="t" rotWithShape="0">
              <a:srgbClr val="8B1A2B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6" name="Picture 105" descr="image.jpe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39304" y="2324298"/>
            <a:ext cx="1007999" cy="1007999"/>
          </a:xfrm>
          <a:prstGeom prst="rect">
            <a:avLst/>
          </a:prstGeom>
        </p:spPr>
      </p:pic>
      <p:sp>
        <p:nvSpPr>
          <p:cNvPr id="17" name="Text 1">
            <a:extLst>
              <a:ext uri="{FF2B5EF4-FFF2-40B4-BE49-F238E27FC236}">
                <a16:creationId xmlns:a16="http://schemas.microsoft.com/office/drawing/2014/main" id="{E2DCB18F-0F80-8B4A-AAD9-E7E70105770E}"/>
              </a:ext>
            </a:extLst>
          </p:cNvPr>
          <p:cNvSpPr/>
          <p:nvPr/>
        </p:nvSpPr>
        <p:spPr>
          <a:xfrm>
            <a:off x="457200" y="1615750"/>
            <a:ext cx="4476000" cy="1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fr-FR" sz="2400" dirty="0">
              <a:solidFill>
                <a:srgbClr val="333333"/>
              </a:solidFill>
              <a:latin typeface="Poppins"/>
            </a:endParaRPr>
          </a:p>
          <a:p>
            <a:pPr marL="0" indent="0" algn="ctr">
              <a:buNone/>
            </a:pPr>
            <a:r>
              <a:rPr lang="fr-FR" sz="2400" dirty="0">
                <a:solidFill>
                  <a:srgbClr val="333333"/>
                </a:solidFill>
                <a:latin typeface="Poppins"/>
              </a:rPr>
              <a:t>Les béquilles, les attelles, les vêtements de compression.</a:t>
            </a:r>
            <a:endParaRPr lang="fr-FR" sz="2400" dirty="0"/>
          </a:p>
          <a:p>
            <a:pPr algn="ctr"/>
            <a:r>
              <a:rPr lang="fr-FR" sz="2400" b="1" dirty="0">
                <a:solidFill>
                  <a:srgbClr val="333333"/>
                </a:solidFill>
                <a:latin typeface="Poppins"/>
              </a:rPr>
              <a:t>Ce sont nos outils de super-héros pour aider notre colle spéciale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0000"/>
            <a:ext cx="6647688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800" b="1" dirty="0">
                <a:solidFill>
                  <a:srgbClr val="8B1A2B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Jouons ensemble</a:t>
            </a:r>
            <a:r>
              <a:rPr lang="fr-FR" sz="2800" dirty="0"/>
              <a:t> </a:t>
            </a:r>
            <a:r>
              <a:rPr lang="fr-FR" sz="2800" b="1" dirty="0">
                <a:solidFill>
                  <a:srgbClr val="8B1A2B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avec bienveillance !</a:t>
            </a:r>
            <a:endParaRPr lang="fr-FR" sz="2800" dirty="0"/>
          </a:p>
        </p:txBody>
      </p:sp>
      <p:sp>
        <p:nvSpPr>
          <p:cNvPr id="3" name="Text 1"/>
          <p:cNvSpPr/>
          <p:nvPr/>
        </p:nvSpPr>
        <p:spPr>
          <a:xfrm>
            <a:off x="592319" y="3060000"/>
            <a:ext cx="5220000" cy="1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2000" dirty="0">
                <a:solidFill>
                  <a:srgbClr val="333333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Dans la cour, on peut s'amuser ensemble à des </a:t>
            </a:r>
            <a:r>
              <a:rPr lang="fr-FR" sz="2000" b="1" dirty="0">
                <a:solidFill>
                  <a:srgbClr val="333333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jeux sans bousculade</a:t>
            </a:r>
            <a:r>
              <a:rPr lang="fr-FR" sz="2000" dirty="0">
                <a:solidFill>
                  <a:srgbClr val="333333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 : la marelle, la corde à sauter, les jeux de société, le dessin...</a:t>
            </a:r>
            <a:endParaRPr lang="fr-FR" sz="2400" dirty="0"/>
          </a:p>
        </p:txBody>
      </p:sp>
      <p:pic>
        <p:nvPicPr>
          <p:cNvPr id="4" name="Image 0" descr="unpacked/ppt/media/image_34176320.jpg"/>
          <p:cNvPicPr>
            <a:picLocks noChangeAspect="1"/>
          </p:cNvPicPr>
          <p:nvPr/>
        </p:nvPicPr>
        <p:blipFill>
          <a:blip r:embed="rId4"/>
          <a:srcRect t="14115" b="14115"/>
          <a:stretch/>
        </p:blipFill>
        <p:spPr>
          <a:xfrm>
            <a:off x="1183280" y="4600682"/>
            <a:ext cx="5041425" cy="3624554"/>
          </a:xfrm>
          <a:prstGeom prst="roundRect">
            <a:avLst>
              <a:gd name="adj" fmla="val 3000"/>
            </a:avLst>
          </a:prstGeom>
          <a:effectLst>
            <a:outerShdw blurRad="76200" dist="38100" dir="5400000" algn="t" rotWithShape="0">
              <a:srgbClr val="8B1A2B">
                <a:alpha val="22000"/>
              </a:srgbClr>
            </a:outerShdw>
          </a:effectLst>
        </p:spPr>
      </p:pic>
      <p:sp>
        <p:nvSpPr>
          <p:cNvPr id="362" name="Dot 7-2"/>
          <p:cNvSpPr/>
          <p:nvPr/>
        </p:nvSpPr>
        <p:spPr>
          <a:xfrm>
            <a:off x="5553119" y="2644641"/>
            <a:ext cx="79200" cy="7920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B1A2B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61" name="Dot 7-1"/>
          <p:cNvSpPr/>
          <p:nvPr/>
        </p:nvSpPr>
        <p:spPr>
          <a:xfrm>
            <a:off x="5632612" y="2816701"/>
            <a:ext cx="125999" cy="125999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B1A2B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60" name="Dot 7-0"/>
          <p:cNvSpPr/>
          <p:nvPr/>
        </p:nvSpPr>
        <p:spPr>
          <a:xfrm>
            <a:off x="5735767" y="2953759"/>
            <a:ext cx="180000" cy="18000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B1A2B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06" name="HeroBubble 7"/>
          <p:cNvSpPr/>
          <p:nvPr/>
        </p:nvSpPr>
        <p:spPr>
          <a:xfrm>
            <a:off x="5664960" y="3081589"/>
            <a:ext cx="1295999" cy="1295999"/>
          </a:xfrm>
          <a:prstGeom prst="ellipse">
            <a:avLst/>
          </a:prstGeom>
          <a:solidFill>
            <a:srgbClr val="FFFFFF">
              <a:alpha val="70000"/>
            </a:srgbClr>
          </a:solidFill>
          <a:ln w="15875">
            <a:solidFill>
              <a:srgbClr val="8B1A2B">
                <a:alpha val="35000"/>
              </a:srgbClr>
            </a:solidFill>
          </a:ln>
          <a:effectLst>
            <a:outerShdw blurRad="40000" dist="20000" dir="5400000" algn="t" rotWithShape="0">
              <a:srgbClr val="8B1A2B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1" descr="unpacked/ppt/media/image_E673173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8967" y="3234964"/>
            <a:ext cx="1007999" cy="1007999"/>
          </a:xfrm>
          <a:prstGeom prst="rect">
            <a:avLst/>
          </a:prstGeom>
        </p:spPr>
      </p:pic>
      <p:sp>
        <p:nvSpPr>
          <p:cNvPr id="99" name="Footer"/>
          <p:cNvSpPr/>
          <p:nvPr/>
        </p:nvSpPr>
        <p:spPr>
          <a:xfrm>
            <a:off x="500000" y="10300000"/>
            <a:ext cx="65628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i="1">
                <a:solidFill>
                  <a:srgbClr val="666666"/>
                </a:solidFill>
                <a:latin typeface="Poppins" pitchFamily="34" charset="0"/>
                <a:ea typeface="Calibri" pitchFamily="34" charset="0"/>
                <a:cs typeface="Calibri" pitchFamily="34" charset="0"/>
              </a:rPr>
              <a:t>Fait par l’association Sed’Occ France 04/2026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D7E1C6A-FBA3-D34A-B763-54C2F74994B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802" t="10888" r="15836" b="19876"/>
          <a:stretch/>
        </p:blipFill>
        <p:spPr>
          <a:xfrm>
            <a:off x="6300000" y="9540000"/>
            <a:ext cx="1080000" cy="100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637792D-573F-9345-B686-EF59C5D4B0A7}"/>
              </a:ext>
            </a:extLst>
          </p:cNvPr>
          <p:cNvSpPr/>
          <p:nvPr/>
        </p:nvSpPr>
        <p:spPr>
          <a:xfrm>
            <a:off x="578561" y="1152000"/>
            <a:ext cx="625086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8B1A2B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Sois un super copain !</a:t>
            </a:r>
            <a:endParaRPr lang="fr-FR" sz="2400" b="1" dirty="0"/>
          </a:p>
          <a:p>
            <a:r>
              <a:rPr lang="fr-FR" sz="2400" dirty="0">
                <a:solidFill>
                  <a:srgbClr val="333333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Ton copain avec le SED a une colle spéciale qui le rend plus fragile. Ce n'est pas de sa faute, et il a besoin de ta gentillesse !</a:t>
            </a:r>
            <a:endParaRPr lang="fr-FR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D6C0EA-2F6B-3343-B0CA-52EAB84A47A3}"/>
              </a:ext>
            </a:extLst>
          </p:cNvPr>
          <p:cNvSpPr/>
          <p:nvPr/>
        </p:nvSpPr>
        <p:spPr>
          <a:xfrm>
            <a:off x="786951" y="8640000"/>
            <a:ext cx="586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333333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Pas besoin de se pousser pour bien rigoler !</a:t>
            </a:r>
            <a:endParaRPr lang="fr-FR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0000"/>
            <a:ext cx="6647688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8B1A2B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Ensemble, on est plus forts !</a:t>
            </a:r>
            <a:endParaRPr lang="en-US" sz="3000"/>
          </a:p>
        </p:txBody>
      </p:sp>
      <p:pic>
        <p:nvPicPr>
          <p:cNvPr id="3" name="Image 0" descr="unpacked/ppt/media/image_3304ECD1.jpg"/>
          <p:cNvPicPr>
            <a:picLocks noChangeAspect="1"/>
          </p:cNvPicPr>
          <p:nvPr/>
        </p:nvPicPr>
        <p:blipFill>
          <a:blip r:embed="rId4"/>
          <a:srcRect l="4962" r="4962"/>
          <a:stretch/>
        </p:blipFill>
        <p:spPr>
          <a:xfrm>
            <a:off x="914781" y="1188720"/>
            <a:ext cx="5733288" cy="4114800"/>
          </a:xfrm>
          <a:prstGeom prst="roundRect">
            <a:avLst>
              <a:gd name="adj" fmla="val 3000"/>
            </a:avLst>
          </a:prstGeom>
          <a:effectLst>
            <a:outerShdw blurRad="76200" dist="38100" dir="5400000" algn="t" rotWithShape="0">
              <a:srgbClr val="8B1A2B">
                <a:alpha val="22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861939" y="5637894"/>
            <a:ext cx="4773219" cy="2620845"/>
          </a:xfrm>
          <a:prstGeom prst="rect">
            <a:avLst/>
          </a:prstGeom>
          <a:noFill/>
          <a:ln/>
        </p:spPr>
        <p:txBody>
          <a:bodyPr/>
          <a:lstStyle/>
          <a:p>
            <a:pPr algn="l"/>
            <a:r>
              <a:rPr lang="fr-FR" sz="2400" dirty="0">
                <a:solidFill>
                  <a:srgbClr val="333333"/>
                </a:solidFill>
                <a:latin typeface="Poppins"/>
              </a:rPr>
              <a:t>On peut parler, se comprendre et </a:t>
            </a:r>
          </a:p>
          <a:p>
            <a:pPr algn="l"/>
            <a:r>
              <a:rPr lang="fr-FR" sz="2400" dirty="0">
                <a:solidFill>
                  <a:srgbClr val="333333"/>
                </a:solidFill>
                <a:latin typeface="Poppins"/>
              </a:rPr>
              <a:t>Trouver des solutions ensemble.</a:t>
            </a:r>
          </a:p>
          <a:p>
            <a:pPr algn="l"/>
            <a:endParaRPr lang="fr-FR" sz="2400" dirty="0">
              <a:solidFill>
                <a:srgbClr val="333333"/>
              </a:solidFill>
              <a:latin typeface="Poppins"/>
            </a:endParaRPr>
          </a:p>
          <a:p>
            <a:pPr algn="l">
              <a:spcBef>
                <a:spcPts val="400"/>
              </a:spcBef>
            </a:pPr>
            <a:r>
              <a:rPr lang="fr-FR" sz="2400" b="1" dirty="0">
                <a:solidFill>
                  <a:srgbClr val="333333"/>
                </a:solidFill>
                <a:latin typeface="Poppins"/>
              </a:rPr>
              <a:t>C'est important de se sentir entouré.</a:t>
            </a:r>
          </a:p>
          <a:p>
            <a:pPr algn="l">
              <a:spcBef>
                <a:spcPts val="400"/>
              </a:spcBef>
            </a:pPr>
            <a:r>
              <a:rPr lang="fr-FR" sz="2400" b="1" dirty="0">
                <a:solidFill>
                  <a:srgbClr val="8B1A2B"/>
                </a:solidFill>
                <a:latin typeface="Poppins"/>
              </a:rPr>
              <a:t>Tu es un super-héros, n'oublie jamais !</a:t>
            </a:r>
          </a:p>
        </p:txBody>
      </p:sp>
      <p:sp>
        <p:nvSpPr>
          <p:cNvPr id="372" name="Dot 8-2"/>
          <p:cNvSpPr/>
          <p:nvPr/>
        </p:nvSpPr>
        <p:spPr>
          <a:xfrm>
            <a:off x="5457825" y="6095920"/>
            <a:ext cx="79200" cy="7920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B1A2B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71" name="Dot 8-1"/>
          <p:cNvSpPr/>
          <p:nvPr/>
        </p:nvSpPr>
        <p:spPr>
          <a:xfrm>
            <a:off x="5562001" y="6258719"/>
            <a:ext cx="125999" cy="125999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B1A2B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70" name="Dot 8-0"/>
          <p:cNvSpPr/>
          <p:nvPr/>
        </p:nvSpPr>
        <p:spPr>
          <a:xfrm>
            <a:off x="5635158" y="6409198"/>
            <a:ext cx="180000" cy="18000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B1A2B">
                <a:alpha val="30000"/>
              </a:srgb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07" name="HeroBubble 8"/>
          <p:cNvSpPr/>
          <p:nvPr/>
        </p:nvSpPr>
        <p:spPr>
          <a:xfrm>
            <a:off x="5835539" y="6258719"/>
            <a:ext cx="1295999" cy="1295999"/>
          </a:xfrm>
          <a:prstGeom prst="ellipse">
            <a:avLst/>
          </a:prstGeom>
          <a:solidFill>
            <a:srgbClr val="FFFFFF">
              <a:alpha val="70000"/>
            </a:srgbClr>
          </a:solidFill>
          <a:ln w="15875">
            <a:solidFill>
              <a:srgbClr val="8B1A2B">
                <a:alpha val="35000"/>
              </a:srgbClr>
            </a:solidFill>
          </a:ln>
          <a:effectLst>
            <a:outerShdw blurRad="40000" dist="20000" dir="5400000" algn="t" rotWithShape="0">
              <a:srgbClr val="8B1A2B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1" descr="unpacked/ppt/media/image_E673173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4851" y="6384718"/>
            <a:ext cx="1007999" cy="1007999"/>
          </a:xfrm>
          <a:prstGeom prst="rect">
            <a:avLst/>
          </a:prstGeom>
        </p:spPr>
      </p:pic>
      <p:sp>
        <p:nvSpPr>
          <p:cNvPr id="99" name="Footer"/>
          <p:cNvSpPr/>
          <p:nvPr/>
        </p:nvSpPr>
        <p:spPr>
          <a:xfrm>
            <a:off x="500000" y="10300000"/>
            <a:ext cx="65628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i="1">
                <a:solidFill>
                  <a:srgbClr val="666666"/>
                </a:solidFill>
                <a:latin typeface="Poppins" pitchFamily="34" charset="0"/>
                <a:ea typeface="Calibri" pitchFamily="34" charset="0"/>
                <a:cs typeface="Calibri" pitchFamily="34" charset="0"/>
              </a:rPr>
              <a:t>Fait par l’association Sed’Occ France 04/2026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1E0B056-8D9F-8042-A02E-B988B66CF19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802" t="10888" r="15836" b="19876"/>
          <a:stretch/>
        </p:blipFill>
        <p:spPr>
          <a:xfrm>
            <a:off x="6300000" y="9540000"/>
            <a:ext cx="1080000" cy="100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B361EC-0B31-4A4E-94B4-F8CEAB4FC256}"/>
              </a:ext>
            </a:extLst>
          </p:cNvPr>
          <p:cNvSpPr/>
          <p:nvPr/>
        </p:nvSpPr>
        <p:spPr>
          <a:xfrm>
            <a:off x="2033733" y="8353920"/>
            <a:ext cx="3781425" cy="162865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Bef>
                <a:spcPts val="800"/>
              </a:spcBef>
            </a:pPr>
            <a:r>
              <a:rPr lang="fr-FR" sz="1000" dirty="0">
                <a:solidFill>
                  <a:srgbClr val="CCBBBB"/>
                </a:solidFill>
                <a:latin typeface="Poppins"/>
              </a:rPr>
              <a:t>━━━━━━━━━━━━━━━━━━━━━━━━</a:t>
            </a:r>
          </a:p>
          <a:p>
            <a:pPr algn="ctr">
              <a:spcBef>
                <a:spcPts val="400"/>
              </a:spcBef>
            </a:pPr>
            <a:r>
              <a:rPr lang="fr-FR" sz="2400" b="1" dirty="0">
                <a:solidFill>
                  <a:srgbClr val="8B1A2B"/>
                </a:solidFill>
                <a:latin typeface="Poppins"/>
              </a:rPr>
              <a:t>Pour tes parents</a:t>
            </a:r>
          </a:p>
          <a:p>
            <a:pPr algn="ctr">
              <a:spcBef>
                <a:spcPts val="300"/>
              </a:spcBef>
            </a:pPr>
            <a:r>
              <a:rPr lang="fr-FR" sz="2000" dirty="0">
                <a:solidFill>
                  <a:srgbClr val="666666"/>
                </a:solidFill>
                <a:latin typeface="Poppins"/>
              </a:rPr>
              <a:t>Site internet : </a:t>
            </a:r>
            <a:r>
              <a:rPr lang="fr-FR" sz="2000" dirty="0" err="1">
                <a:solidFill>
                  <a:srgbClr val="666666"/>
                </a:solidFill>
                <a:latin typeface="Poppins"/>
              </a:rPr>
              <a:t>www.sedocc.fr</a:t>
            </a:r>
            <a:endParaRPr lang="fr-FR" sz="2000" dirty="0">
              <a:solidFill>
                <a:srgbClr val="666666"/>
              </a:solidFill>
              <a:latin typeface="Poppins"/>
            </a:endParaRPr>
          </a:p>
          <a:p>
            <a:pPr algn="ctr"/>
            <a:r>
              <a:rPr lang="fr-FR" sz="2000" dirty="0">
                <a:solidFill>
                  <a:srgbClr val="666666"/>
                </a:solidFill>
                <a:latin typeface="Poppins"/>
              </a:rPr>
              <a:t>Email : Sedocc31@gmail.com</a:t>
            </a:r>
          </a:p>
          <a:p>
            <a:pPr algn="ctr"/>
            <a:r>
              <a:rPr lang="fr-FR" sz="2000" dirty="0">
                <a:solidFill>
                  <a:srgbClr val="666666"/>
                </a:solidFill>
                <a:latin typeface="Poppins"/>
              </a:rPr>
              <a:t>Facebook : </a:t>
            </a:r>
            <a:r>
              <a:rPr lang="fr-FR" sz="2000" dirty="0" err="1">
                <a:solidFill>
                  <a:srgbClr val="666666"/>
                </a:solidFill>
                <a:latin typeface="Poppins"/>
              </a:rPr>
              <a:t>SedOcc</a:t>
            </a:r>
            <a:endParaRPr lang="fr-FR" dirty="0">
              <a:solidFill>
                <a:srgbClr val="666666"/>
              </a:solidFill>
              <a:latin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440</Words>
  <Application>Microsoft Macintosh PowerPoint</Application>
  <PresentationFormat>Personnalisé</PresentationFormat>
  <Paragraphs>65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Calibri</vt:lpstr>
      <vt:lpstr>Poppins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16.0011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therese borin</dc:creator>
  <cp:lastModifiedBy>Florence Garnero</cp:lastModifiedBy>
  <cp:revision>13</cp:revision>
  <dcterms:created xsi:type="dcterms:W3CDTF">2026-04-27T15:58:41Z</dcterms:created>
  <dcterms:modified xsi:type="dcterms:W3CDTF">2026-06-29T21:03:45Z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2026-04-27T00:00:00Z</vt:filetime>
  </property>
  <property fmtid="{D5CDD505-2E9C-101B-9397-08002B2CF9AE}" pid="3" name="CreationClient">
    <vt:lpwstr>hz-json-import</vt:lpwstr>
  </property>
  <property fmtid="{D5CDD505-2E9C-101B-9397-08002B2CF9AE}" pid="4" name="Creator">
    <vt:lpwstr>Adobe Express</vt:lpwstr>
  </property>
  <property fmtid="{D5CDD505-2E9C-101B-9397-08002B2CF9AE}" pid="5" name="LastSaved">
    <vt:filetime>2026-04-27T00:00:00Z</vt:filetime>
  </property>
  <property fmtid="{D5CDD505-2E9C-101B-9397-08002B2CF9AE}" pid="6" name="Producer">
    <vt:lpwstr>Adobe Express</vt:lpwstr>
  </property>
</Properties>
</file>