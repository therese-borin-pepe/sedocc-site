
<file path=[Content_Types].xml><?xml version="1.0" encoding="utf-8"?>
<Types xmlns="http://schemas.openxmlformats.org/package/2006/content-types">
  <Default Extension="png" ContentType="image/png"/>
  <Default Extension="jpeg" ContentType="image/pn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media/image7.png" ContentType="image/jpeg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media/image10.jpeg" ContentType="image/jpeg"/>
  <Override PartName="/ppt/media/image11.jpeg" ContentType="image/jpeg"/>
  <Override PartName="/ppt/media/image12.png" ContentType="image/jpeg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0"/>
  </p:notesMasterIdLst>
  <p:sldIdLst>
    <p:sldId id="256" r:id="rId2"/>
    <p:sldId id="264" r:id="rId3"/>
    <p:sldId id="257" r:id="rId4"/>
    <p:sldId id="258" r:id="rId5"/>
    <p:sldId id="259" r:id="rId6"/>
    <p:sldId id="260" r:id="rId7"/>
    <p:sldId id="261" r:id="rId8"/>
    <p:sldId id="262" r:id="rId9"/>
    <p:sldId id="266" r:id="rId16"/>
    <p:sldId id="267" r:id="rId17"/>
    <p:sldId id="268" r:id="rId18"/>
    <p:sldId id="269" r:id="rId19"/>
    <p:sldId id="265" r:id="rId15"/>
  </p:sldIdLst>
  <p:sldSz cx="7562850" cy="10688638"/>
  <p:notesSz cx="10688638" cy="756285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78" userDrawn="1">
          <p15:clr>
            <a:srgbClr val="A4A3A4"/>
          </p15:clr>
        </p15:guide>
        <p15:guide id="2" pos="216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882"/>
    <p:restoredTop sz="95377"/>
  </p:normalViewPr>
  <p:slideViewPr>
    <p:cSldViewPr>
      <p:cViewPr varScale="1">
        <p:scale>
          <a:sx n="64" d="100"/>
          <a:sy n="64" d="100"/>
        </p:scale>
        <p:origin x="2872" y="184"/>
      </p:cViewPr>
      <p:guideLst>
        <p:guide orient="horz" pos="2878"/>
        <p:guide pos="2162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  <Relationship Id="rId15" Type="http://schemas.openxmlformats.org/officeDocument/2006/relationships/slide" Target="slides/slide9.xml"/>
  <Relationship Id="rId16" Type="http://schemas.openxmlformats.org/officeDocument/2006/relationships/slide" Target="slides/slide10.xml"/>
  <Relationship Id="rId17" Type="http://schemas.openxmlformats.org/officeDocument/2006/relationships/slide" Target="slides/slide11.xml"/>
  <Relationship Id="rId18" Type="http://schemas.openxmlformats.org/officeDocument/2006/relationships/slide" Target="slides/slide12.xml"/>
  <Relationship Id="rId19" Type="http://schemas.openxmlformats.org/officeDocument/2006/relationships/slide" Target="slides/slide13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5013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4279900" y="0"/>
            <a:ext cx="3275013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2B3F72A-3E22-47E7-995C-6D9D04600525}" type="datetimeFigureOut">
              <a:rPr lang="fr-FR" smtClean="0"/>
              <a:t>13/07/2026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2503488" y="1336675"/>
            <a:ext cx="2549525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755650" y="5146675"/>
            <a:ext cx="6045200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10156825"/>
            <a:ext cx="3275013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4279900" y="10156825"/>
            <a:ext cx="3275013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20B9B8-979C-4154-B35D-DE0C001895F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46684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01900" y="1336675"/>
            <a:ext cx="2552700" cy="360838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57087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01900" y="1336675"/>
            <a:ext cx="2552700" cy="360838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37152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01900" y="1336675"/>
            <a:ext cx="2552700" cy="360838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01900" y="1336675"/>
            <a:ext cx="2552700" cy="360838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01900" y="1336675"/>
            <a:ext cx="2552700" cy="360838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01900" y="1336675"/>
            <a:ext cx="2552700" cy="360838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01900" y="1336675"/>
            <a:ext cx="2552700" cy="360838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501900" y="1336675"/>
            <a:ext cx="2552700" cy="360838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6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7/13/26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cstate="print"/>
          <a:stretch>
            <a:fillRect/>
          </a:stretch>
        </p:blipFill>
        <p:spPr>
          <a:xfrm>
            <a:off x="0" y="0"/>
            <a:ext cx="7560564" cy="10692371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6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0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7/13/26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6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7/13/26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6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7/13/26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7/13/26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0" y="0"/>
            <a:ext cx="5670422" cy="8019275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545317" y="849581"/>
            <a:ext cx="2472214" cy="8191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6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18261" y="3574880"/>
            <a:ext cx="3192145" cy="236092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7/13/26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62" r:id="rId3"/>
    <p:sldLayoutId id="2147483663" r:id="rId4"/>
    <p:sldLayoutId id="2147483664" r:id="rId5"/>
    <p:sldLayoutId id="2147483665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jpeg"/><Relationship Id="rId5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jp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jpe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jpeg"/><Relationship Id="rId4" Type="http://schemas.openxmlformats.org/officeDocument/2006/relationships/image" Target="../media/image9.jp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jpg"/><Relationship Id="rId3" Type="http://schemas.openxmlformats.org/officeDocument/2006/relationships/image" Target="../media/image1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jpeg"/><Relationship Id="rId5" Type="http://schemas.openxmlformats.org/officeDocument/2006/relationships/image" Target="../media/image10.jpeg"/><Relationship Id="rId10" Type="http://schemas.openxmlformats.org/officeDocument/2006/relationships/image" Target="../media/image2.jpeg"/><Relationship Id="rId4" Type="http://schemas.openxmlformats.org/officeDocument/2006/relationships/image" Target="../media/image3.png"/><Relationship Id="rId9" Type="http://schemas.openxmlformats.org/officeDocument/2006/relationships/image" Target="../media/image14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jpeg"/><Relationship Id="rId4" Type="http://schemas.openxmlformats.org/officeDocument/2006/relationships/image" Target="../media/image15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jpeg"/><Relationship Id="rId4" Type="http://schemas.openxmlformats.org/officeDocument/2006/relationships/image" Target="../media/image16.jpg"/></Relationships>
</file>

<file path=ppt/slides/_rels/slide9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jpeg"/><Relationship Id="rId4" Type="http://schemas.openxmlformats.org/officeDocument/2006/relationships/image" Target="../media/image16.jpg"/></Relationships>
</file>

<file path=ppt/slides/_rels/slide10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jp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11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jpg"/><Relationship Id="rId5" Type="http://schemas.openxmlformats.org/officeDocument/2006/relationships/image" Target="../media/image3.png"/><Relationship Id="rId4" Type="http://schemas.openxmlformats.org/officeDocument/2006/relationships/image" Target="../media/image2.jpeg"/><Relationship Id="rId7" Type="http://schemas.openxmlformats.org/officeDocument/2006/relationships/image" Target="../media/image13.jpg"/><Relationship Id="rId8" Type="http://schemas.openxmlformats.org/officeDocument/2006/relationships/image" Target="../media/image14.jpg"/><Relationship Id="rId9" Type="http://schemas.openxmlformats.org/officeDocument/2006/relationships/image" Target="../media/image11.jpeg"/></Relationships>
</file>

<file path=ppt/slides/_rels/slide12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jp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13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jp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6647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3600" b="1" dirty="0">
                <a:solidFill>
                  <a:schemeClr val="accent2">
                    <a:lumMod val="75000"/>
                  </a:schemeClr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Le Livret SED'OCC</a:t>
            </a:r>
            <a:endParaRPr lang="fr-FR" sz="36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" name="Text 1"/>
          <p:cNvSpPr>
            <a:spLocks/>
          </p:cNvSpPr>
          <p:nvPr/>
        </p:nvSpPr>
        <p:spPr>
          <a:xfrm>
            <a:off x="457200" y="1005840"/>
            <a:ext cx="6647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400" b="1">
                <a:solidFill>
                  <a:schemeClr val="accent2">
                    <a:lumMod val="75000"/>
                  </a:schemeClr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Pour les enfants</a:t>
            </a:r>
            <a:endParaRPr lang="fr-FR" sz="240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Text 3"/>
          <p:cNvSpPr>
            <a:spLocks/>
          </p:cNvSpPr>
          <p:nvPr/>
        </p:nvSpPr>
        <p:spPr>
          <a:xfrm>
            <a:off x="457200" y="2103120"/>
            <a:ext cx="66476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3600" dirty="0">
                <a:solidFill>
                  <a:srgbClr val="8B1A2B"/>
                </a:solidFill>
                <a:latin typeface="Poppins"/>
              </a:rPr>
              <a:t>Le mystère de la colle du corps</a:t>
            </a:r>
            <a:endParaRPr lang="fr-FR" sz="3200" dirty="0"/>
          </a:p>
          <a:p>
            <a:pPr algn="ctr"/>
            <a:endParaRPr lang="fr-FR" sz="1600" dirty="0"/>
          </a:p>
          <a:p>
            <a:pPr algn="ctr"/>
            <a:r>
              <a:rPr lang="fr-FR" sz="2400" dirty="0">
                <a:solidFill>
                  <a:srgbClr val="333333"/>
                </a:solidFill>
                <a:latin typeface="Poppins"/>
              </a:rPr>
              <a:t>Comprendre le syndrome d'Ehlers-Danlos</a:t>
            </a:r>
          </a:p>
          <a:p>
            <a:pPr algn="ctr">
              <a:spcBef>
                <a:spcPts val="1200"/>
              </a:spcBef>
            </a:pPr>
            <a:r>
              <a:rPr sz="2200" b="0">
                <a:solidFill>
                  <a:srgbClr val="8B1A2B"/>
                </a:solidFill>
                <a:latin typeface="Poppins"/>
              </a:rPr>
              <a:t>Viens découvrir avec moi le secret de la colle magique !</a:t>
            </a:r>
          </a:p>
        </p:txBody>
      </p:sp>
      <p:pic>
        <p:nvPicPr>
          <p:cNvPr id="9" name="Image 2" descr="unpacked/ppt/media/image_E673173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4555" y="4660000"/>
            <a:ext cx="4500000" cy="450000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sp>
        <p:nvSpPr>
          <p:cNvPr id="99" name="Footer"/>
          <p:cNvSpPr/>
          <p:nvPr/>
        </p:nvSpPr>
        <p:spPr>
          <a:xfrm>
            <a:off x="500000" y="10300000"/>
            <a:ext cx="656285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i="1">
                <a:solidFill>
                  <a:srgbClr val="666666"/>
                </a:solidFill>
                <a:latin typeface="Poppins" pitchFamily="34" charset="0"/>
                <a:ea typeface="Calibri" pitchFamily="34" charset="0"/>
                <a:cs typeface="Calibri" pitchFamily="34" charset="0"/>
              </a:rPr>
              <a:t>Fait par l’association Sed’Occ France 04/2026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1510070F-E6BE-C44E-8EB5-ACEAF57316C1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9802" t="10888" r="15836" b="19876"/>
          <a:stretch/>
        </p:blipFill>
        <p:spPr>
          <a:xfrm>
            <a:off x="6300000" y="9540000"/>
            <a:ext cx="1080000" cy="100799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Footer"/>
          <p:cNvSpPr/>
          <p:nvPr/>
        </p:nvSpPr>
        <p:spPr>
          <a:xfrm>
            <a:off x="500000" y="10300000"/>
            <a:ext cx="656285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i="1">
                <a:solidFill>
                  <a:srgbClr val="666666"/>
                </a:solidFill>
                <a:latin typeface="Poppins" pitchFamily="34" charset="0"/>
                <a:ea typeface="Calibri" pitchFamily="34" charset="0"/>
                <a:cs typeface="Calibri" pitchFamily="34" charset="0"/>
              </a:rPr>
              <a:t>Fait par l’association Sed’Occ France 04/2026</a:t>
            </a: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1510070F-E6BE-C44E-8EB5-ACEAF57316C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9802" t="10888" r="15836" b="19876"/>
          <a:stretch/>
        </p:blipFill>
        <p:spPr>
          <a:xfrm>
            <a:off x="6300000" y="9540000"/>
            <a:ext cx="1080000" cy="1007999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827FF1EE-10F5-5446-9822-C9D4DD13548A}"/>
              </a:ext>
            </a:extLst>
          </p:cNvPr>
          <p:cNvSpPr/>
          <p:nvPr/>
        </p:nvSpPr>
        <p:spPr>
          <a:xfrm>
            <a:off x="468000" y="360000"/>
            <a:ext cx="6624000" cy="9000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r-FR" sz="2800" b="1" dirty="0">
                <a:solidFill>
                  <a:srgbClr val="8B1A2B"/>
                </a:solidFill>
                <a:latin typeface="Poppins"/>
              </a:rPr>
              <a:t>Notre corps, une merveilleuse maison !</a:t>
            </a:r>
          </a:p>
        </p:txBody>
      </p:sp>
      <p:pic>
        <p:nvPicPr>
          <p:cNvPr id="10" name="Picture 2" descr="image.jpg">
            <a:extLst>
              <a:ext uri="{FF2B5EF4-FFF2-40B4-BE49-F238E27FC236}">
                <a16:creationId xmlns:a16="http://schemas.microsoft.com/office/drawing/2014/main" id="{5C9D2762-DF5F-5344-A758-3103BDA24A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4670" y="6023282"/>
            <a:ext cx="3839162" cy="2052809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AF9DC8A-7D6E-0C40-975A-3926EE7E51E9}"/>
              </a:ext>
            </a:extLst>
          </p:cNvPr>
          <p:cNvSpPr/>
          <p:nvPr/>
        </p:nvSpPr>
        <p:spPr>
          <a:xfrm>
            <a:off x="468000" y="8584940"/>
            <a:ext cx="6624000" cy="9000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r-FR" sz="2400" dirty="0">
                <a:solidFill>
                  <a:srgbClr val="333333"/>
                </a:solidFill>
                <a:latin typeface="Poppins"/>
              </a:rPr>
              <a:t>Elle aide à tenir nos os, notre peau</a:t>
            </a:r>
          </a:p>
          <a:p>
            <a:pPr algn="ctr"/>
            <a:r>
              <a:rPr lang="fr-FR" sz="2400" dirty="0">
                <a:solidFill>
                  <a:srgbClr val="333333"/>
                </a:solidFill>
                <a:latin typeface="Poppins"/>
              </a:rPr>
              <a:t>et tout le reste.</a:t>
            </a:r>
            <a:endParaRPr lang="fr-FR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BEE8E9-39E8-CC42-969C-56935A196227}"/>
              </a:ext>
            </a:extLst>
          </p:cNvPr>
          <p:cNvSpPr/>
          <p:nvPr/>
        </p:nvSpPr>
        <p:spPr>
          <a:xfrm>
            <a:off x="468000" y="4262317"/>
            <a:ext cx="662400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endParaRPr lang="fr-FR" sz="2400" dirty="0">
              <a:solidFill>
                <a:srgbClr val="333333"/>
              </a:solidFill>
              <a:latin typeface="Poppins"/>
            </a:endParaRPr>
          </a:p>
          <a:p>
            <a:pPr algn="ctr"/>
            <a:r>
              <a:rPr lang="fr-FR" sz="2400" dirty="0">
                <a:solidFill>
                  <a:srgbClr val="333333"/>
                </a:solidFill>
                <a:latin typeface="Poppins"/>
              </a:rPr>
              <a:t>Dans notre corps, il y a une super colle magique qui s'appelle </a:t>
            </a:r>
            <a:r>
              <a:rPr lang="fr-FR" sz="2400" dirty="0">
                <a:solidFill>
                  <a:schemeClr val="accent2">
                    <a:lumMod val="75000"/>
                  </a:schemeClr>
                </a:solidFill>
                <a:latin typeface="Poppins"/>
              </a:rPr>
              <a:t>le collagène</a:t>
            </a:r>
            <a:r>
              <a:rPr lang="fr-FR" sz="2400" dirty="0">
                <a:solidFill>
                  <a:srgbClr val="333333"/>
                </a:solidFill>
                <a:latin typeface="Poppins"/>
              </a:rPr>
              <a:t>.</a:t>
            </a:r>
          </a:p>
        </p:txBody>
      </p:sp>
      <p:sp>
        <p:nvSpPr>
          <p:cNvPr id="312" name="Dot 2-2"/>
          <p:cNvSpPr/>
          <p:nvPr/>
        </p:nvSpPr>
        <p:spPr>
          <a:xfrm>
            <a:off x="5058911" y="6154846"/>
            <a:ext cx="79200" cy="792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11" name="Dot 2-1"/>
          <p:cNvSpPr/>
          <p:nvPr/>
        </p:nvSpPr>
        <p:spPr>
          <a:xfrm>
            <a:off x="5138111" y="6305909"/>
            <a:ext cx="125999" cy="125999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10" name="Dot 2-0"/>
          <p:cNvSpPr/>
          <p:nvPr/>
        </p:nvSpPr>
        <p:spPr>
          <a:xfrm>
            <a:off x="5263381" y="6470606"/>
            <a:ext cx="180000" cy="1800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201" name="HeroBubble 2"/>
          <p:cNvSpPr/>
          <p:nvPr/>
        </p:nvSpPr>
        <p:spPr>
          <a:xfrm>
            <a:off x="5232734" y="6780092"/>
            <a:ext cx="1295999" cy="1295999"/>
          </a:xfrm>
          <a:prstGeom prst="ellipse">
            <a:avLst/>
          </a:prstGeom>
          <a:solidFill>
            <a:srgbClr val="FFFFFF">
              <a:alpha val="70000"/>
            </a:srgbClr>
          </a:solidFill>
          <a:ln w="15875">
            <a:solidFill>
              <a:srgbClr val="8B1A2B">
                <a:alpha val="35000"/>
              </a:srgbClr>
            </a:solidFill>
          </a:ln>
          <a:effectLst>
            <a:outerShdw blurRad="40000" dist="20000" dir="5400000" algn="t" rotWithShape="0">
              <a:srgbClr val="8B1A2B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3" name="Image 1" descr="unpacked/ppt/media/image_E673173E.jpg">
            <a:extLst>
              <a:ext uri="{FF2B5EF4-FFF2-40B4-BE49-F238E27FC236}">
                <a16:creationId xmlns:a16="http://schemas.microsoft.com/office/drawing/2014/main" id="{8DFDDAB1-CD7E-8D4B-93C9-16F9FFA77A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3381" y="6978092"/>
            <a:ext cx="1007999" cy="1007999"/>
          </a:xfrm>
          <a:prstGeom prst="rect">
            <a:avLst/>
          </a:prstGeom>
        </p:spPr>
      </p:pic>
      <p:pic>
        <p:nvPicPr>
          <p:cNvPr id="14" name="Image 0" descr="unpacked/ppt/media/image_A81BC803.jpg">
            <a:extLst>
              <a:ext uri="{FF2B5EF4-FFF2-40B4-BE49-F238E27FC236}">
                <a16:creationId xmlns:a16="http://schemas.microsoft.com/office/drawing/2014/main" id="{A2A54B0F-A3BF-524B-BF9C-3D15C7F0E62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4670" y="1331863"/>
            <a:ext cx="5496710" cy="293615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35715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6647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800" b="1" dirty="0">
                <a:solidFill>
                  <a:srgbClr val="8B1A2B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Qu'est-ce que le SED ?</a:t>
            </a:r>
            <a:endParaRPr lang="fr-FR" sz="2800" dirty="0"/>
          </a:p>
        </p:txBody>
      </p:sp>
      <p:sp>
        <p:nvSpPr>
          <p:cNvPr id="4" name="Text 1"/>
          <p:cNvSpPr/>
          <p:nvPr/>
        </p:nvSpPr>
        <p:spPr>
          <a:xfrm>
            <a:off x="457200" y="6832546"/>
            <a:ext cx="6647688" cy="25634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fr-FR" sz="2400" dirty="0">
              <a:solidFill>
                <a:srgbClr val="333333"/>
              </a:solidFill>
              <a:latin typeface="Poppins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 algn="ctr">
              <a:buNone/>
            </a:pPr>
            <a:r>
              <a:rPr lang="fr-FR" sz="2400" b="1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Ce n'est pas une maladie contagieuse : c'est une différence avec laquelle on naît, et qu'on garde toute sa vie.</a:t>
            </a:r>
            <a:endParaRPr lang="fr-FR" sz="2400" dirty="0"/>
          </a:p>
          <a:p>
            <a:pPr marL="0" indent="0" algn="ctr">
              <a:buNone/>
            </a:pPr>
            <a:r>
              <a:rPr lang="fr-FR" sz="2400" b="0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La peau, les articulations, les muscles... plein de parties du corps ont besoin de cette colle !</a:t>
            </a:r>
            <a:endParaRPr lang="fr-FR" sz="2400" dirty="0"/>
          </a:p>
        </p:txBody>
      </p:sp>
      <p:sp>
        <p:nvSpPr>
          <p:cNvPr id="322" name="Dot 3-2"/>
          <p:cNvSpPr/>
          <p:nvPr/>
        </p:nvSpPr>
        <p:spPr>
          <a:xfrm>
            <a:off x="5032801" y="4586031"/>
            <a:ext cx="79200" cy="792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21" name="Dot 3-1"/>
          <p:cNvSpPr/>
          <p:nvPr/>
        </p:nvSpPr>
        <p:spPr>
          <a:xfrm>
            <a:off x="5112001" y="4761480"/>
            <a:ext cx="125999" cy="125999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20" name="Dot 3-0"/>
          <p:cNvSpPr/>
          <p:nvPr/>
        </p:nvSpPr>
        <p:spPr>
          <a:xfrm>
            <a:off x="5206710" y="4950167"/>
            <a:ext cx="180000" cy="1800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202" name="HeroBubble 3"/>
          <p:cNvSpPr/>
          <p:nvPr/>
        </p:nvSpPr>
        <p:spPr>
          <a:xfrm>
            <a:off x="5158003" y="5181663"/>
            <a:ext cx="1295999" cy="1295999"/>
          </a:xfrm>
          <a:prstGeom prst="ellipse">
            <a:avLst/>
          </a:prstGeom>
          <a:solidFill>
            <a:srgbClr val="FFFFFF">
              <a:alpha val="70000"/>
            </a:srgbClr>
          </a:solidFill>
          <a:ln w="15875">
            <a:solidFill>
              <a:srgbClr val="8B1A2B">
                <a:alpha val="35000"/>
              </a:srgbClr>
            </a:solidFill>
          </a:ln>
          <a:effectLst>
            <a:outerShdw blurRad="40000" dist="20000" dir="5400000" algn="t" rotWithShape="0">
              <a:srgbClr val="8B1A2B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5" name="Image 1" descr="unpacked/ppt/media/image_E673173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3354" y="5325662"/>
            <a:ext cx="1007999" cy="1007999"/>
          </a:xfrm>
          <a:prstGeom prst="rect">
            <a:avLst/>
          </a:prstGeom>
        </p:spPr>
      </p:pic>
      <p:sp>
        <p:nvSpPr>
          <p:cNvPr id="99" name="Footer"/>
          <p:cNvSpPr/>
          <p:nvPr/>
        </p:nvSpPr>
        <p:spPr>
          <a:xfrm>
            <a:off x="500000" y="10300000"/>
            <a:ext cx="656285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i="1">
                <a:solidFill>
                  <a:srgbClr val="666666"/>
                </a:solidFill>
                <a:latin typeface="Poppins" pitchFamily="34" charset="0"/>
                <a:ea typeface="Calibri" pitchFamily="34" charset="0"/>
                <a:cs typeface="Calibri" pitchFamily="34" charset="0"/>
              </a:rPr>
              <a:t>Fait par l’association Sed’Occ France 04/2026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1272B92B-21E4-464F-9F8E-4A62B1E16185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9802" t="10888" r="15836" b="19876"/>
          <a:stretch/>
        </p:blipFill>
        <p:spPr>
          <a:xfrm>
            <a:off x="6300000" y="9540000"/>
            <a:ext cx="1080000" cy="100799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75A2B46-85AF-3F41-BFD8-F771AAC13A71}"/>
              </a:ext>
            </a:extLst>
          </p:cNvPr>
          <p:cNvSpPr/>
          <p:nvPr/>
        </p:nvSpPr>
        <p:spPr>
          <a:xfrm>
            <a:off x="519050" y="4782144"/>
            <a:ext cx="4333938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r-FR" sz="2400" dirty="0">
                <a:solidFill>
                  <a:srgbClr val="333333"/>
                </a:solidFill>
                <a:latin typeface="Poppins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Pour les personnes avec le SED, la recette de cette colle est un peu différente.</a:t>
            </a:r>
          </a:p>
          <a:p>
            <a:pPr algn="ctr"/>
            <a:r>
              <a:rPr lang="fr-FR" sz="2400" dirty="0">
                <a:solidFill>
                  <a:srgbClr val="333333"/>
                </a:solidFill>
                <a:latin typeface="Poppins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Elle est moins solide, ou parfois trop élastique.</a:t>
            </a:r>
            <a:endParaRPr lang="fr-FR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3" name="Picture 3" descr="image.jpg">
            <a:extLst>
              <a:ext uri="{FF2B5EF4-FFF2-40B4-BE49-F238E27FC236}">
                <a16:creationId xmlns:a16="http://schemas.microsoft.com/office/drawing/2014/main" id="{ADA3D401-E2F8-EA42-8EC4-6D30C0D460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6788" y="1344332"/>
            <a:ext cx="5487214" cy="3028426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68000" y="360000"/>
            <a:ext cx="662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800" b="1" dirty="0">
                <a:solidFill>
                  <a:srgbClr val="8B1A2B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La grande batterie à plat</a:t>
            </a:r>
            <a:endParaRPr lang="fr-FR" sz="2800" dirty="0"/>
          </a:p>
        </p:txBody>
      </p:sp>
      <p:pic>
        <p:nvPicPr>
          <p:cNvPr id="3" name="Image 0" descr="unpacked/ppt/media/image_F726E00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1625" y="1260000"/>
            <a:ext cx="4267200" cy="252000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pic>
        <p:nvPicPr>
          <p:cNvPr id="4" name="Image 1" descr="unpacked/ppt/media/image_23A1A80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40000" y="5400000"/>
            <a:ext cx="2700000" cy="342000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sp>
        <p:nvSpPr>
          <p:cNvPr id="5" name="Text 1"/>
          <p:cNvSpPr/>
          <p:nvPr/>
        </p:nvSpPr>
        <p:spPr>
          <a:xfrm>
            <a:off x="468000" y="6840000"/>
            <a:ext cx="3600000" cy="19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fr-FR" sz="2400" dirty="0">
              <a:solidFill>
                <a:srgbClr val="333333"/>
              </a:solidFill>
              <a:latin typeface="Poppins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buNone/>
            </a:pPr>
            <a:endParaRPr lang="fr-FR" sz="2400" dirty="0">
              <a:solidFill>
                <a:srgbClr val="333333"/>
              </a:solidFill>
              <a:latin typeface="Poppins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buNone/>
            </a:pPr>
            <a:r>
              <a:rPr lang="fr-FR" sz="2400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C'est pour cela qu'on est souvent fatigué, même en ayant bien dormi.</a:t>
            </a:r>
            <a:endParaRPr lang="fr-FR" sz="2400" dirty="0"/>
          </a:p>
        </p:txBody>
      </p:sp>
      <p:sp>
        <p:nvSpPr>
          <p:cNvPr id="332" name="Dot 4-2"/>
          <p:cNvSpPr/>
          <p:nvPr/>
        </p:nvSpPr>
        <p:spPr>
          <a:xfrm>
            <a:off x="2357373" y="5388801"/>
            <a:ext cx="79200" cy="792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31" name="Dot 4-1"/>
          <p:cNvSpPr/>
          <p:nvPr/>
        </p:nvSpPr>
        <p:spPr>
          <a:xfrm>
            <a:off x="2231374" y="5516001"/>
            <a:ext cx="125999" cy="125999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30" name="Dot 4-0"/>
          <p:cNvSpPr/>
          <p:nvPr/>
        </p:nvSpPr>
        <p:spPr>
          <a:xfrm>
            <a:off x="2070000" y="5690000"/>
            <a:ext cx="180000" cy="1800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203" name="HeroBubble 4"/>
          <p:cNvSpPr/>
          <p:nvPr/>
        </p:nvSpPr>
        <p:spPr>
          <a:xfrm rot="2250274">
            <a:off x="905848" y="5902580"/>
            <a:ext cx="1295999" cy="1295999"/>
          </a:xfrm>
          <a:prstGeom prst="ellipse">
            <a:avLst/>
          </a:prstGeom>
          <a:solidFill>
            <a:srgbClr val="FFFFFF">
              <a:alpha val="70000"/>
            </a:srgbClr>
          </a:solidFill>
          <a:ln w="15875">
            <a:solidFill>
              <a:srgbClr val="8B1A2B">
                <a:alpha val="35000"/>
              </a:srgbClr>
            </a:solidFill>
          </a:ln>
          <a:effectLst>
            <a:outerShdw blurRad="40000" dist="20000" dir="5400000" algn="t" rotWithShape="0">
              <a:srgbClr val="8B1A2B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6" name="Image 2" descr="unpacked/ppt/media/image_E673173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2878" y="6120000"/>
            <a:ext cx="1007999" cy="1007999"/>
          </a:xfrm>
          <a:prstGeom prst="rect">
            <a:avLst/>
          </a:prstGeom>
        </p:spPr>
      </p:pic>
      <p:sp>
        <p:nvSpPr>
          <p:cNvPr id="99" name="Footer"/>
          <p:cNvSpPr/>
          <p:nvPr/>
        </p:nvSpPr>
        <p:spPr>
          <a:xfrm>
            <a:off x="500000" y="10300000"/>
            <a:ext cx="656285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i="1">
                <a:solidFill>
                  <a:srgbClr val="666666"/>
                </a:solidFill>
                <a:latin typeface="Poppins" pitchFamily="34" charset="0"/>
                <a:ea typeface="Calibri" pitchFamily="34" charset="0"/>
                <a:cs typeface="Calibri" pitchFamily="34" charset="0"/>
              </a:rPr>
              <a:t>Fait par l’association Sed’Occ France 04/2026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11AAFE20-76B3-534B-9371-0C868F1360A4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9802" t="10888" r="15836" b="19876"/>
          <a:stretch/>
        </p:blipFill>
        <p:spPr>
          <a:xfrm>
            <a:off x="6300000" y="9540000"/>
            <a:ext cx="1080000" cy="1007999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784CDDD-5741-C048-AFC0-15F93C4CAE06}"/>
              </a:ext>
            </a:extLst>
          </p:cNvPr>
          <p:cNvSpPr/>
          <p:nvPr/>
        </p:nvSpPr>
        <p:spPr>
          <a:xfrm>
            <a:off x="438850" y="3890000"/>
            <a:ext cx="6624000" cy="12600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r-FR" sz="2400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Le corps doit faire beaucoup plus d'efforts pour compenser la colle lâche, comme un muscle qui travaille trop.</a:t>
            </a:r>
            <a:endParaRPr lang="fr-FR" sz="2400" dirty="0"/>
          </a:p>
          <a:p>
            <a:pPr algn="ctr"/>
            <a:endParaRPr lang="fr-FR" dirty="0">
              <a:solidFill>
                <a:srgbClr val="333333"/>
              </a:solidFill>
              <a:latin typeface="Poppins" pitchFamily="34" charset="0"/>
              <a:ea typeface="Calibri" pitchFamily="34" charset="-122"/>
              <a:cs typeface="Calibri" pitchFamily="34" charset="-12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6647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800" b="1" dirty="0">
                <a:solidFill>
                  <a:srgbClr val="8B1A2B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La douleur (les alarmes du corps)</a:t>
            </a:r>
            <a:endParaRPr lang="fr-FR" sz="2800" dirty="0"/>
          </a:p>
        </p:txBody>
      </p:sp>
      <p:pic>
        <p:nvPicPr>
          <p:cNvPr id="3" name="Image 0" descr="unpacked/ppt/media/image_A6C4BBD3.jpg"/>
          <p:cNvPicPr>
            <a:picLocks noChangeAspect="1"/>
          </p:cNvPicPr>
          <p:nvPr/>
        </p:nvPicPr>
        <p:blipFill>
          <a:blip r:embed="rId4"/>
          <a:srcRect t="8771" b="8771"/>
          <a:stretch/>
        </p:blipFill>
        <p:spPr>
          <a:xfrm>
            <a:off x="943550" y="1527950"/>
            <a:ext cx="5672899" cy="3252672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sp>
        <p:nvSpPr>
          <p:cNvPr id="4" name="Text 1"/>
          <p:cNvSpPr/>
          <p:nvPr/>
        </p:nvSpPr>
        <p:spPr>
          <a:xfrm>
            <a:off x="468000" y="6840000"/>
            <a:ext cx="6624000" cy="2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endParaRPr lang="fr-FR" sz="2400" dirty="0"/>
          </a:p>
          <a:p>
            <a:pPr marL="0" indent="0" algn="ctr">
              <a:buNone/>
            </a:pPr>
            <a:r>
              <a:rPr lang="fr-FR" sz="2400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On apprend à écouter ces alarmes et à se reposer quand elles sonnent.</a:t>
            </a:r>
            <a:endParaRPr lang="fr-FR" sz="2400" dirty="0"/>
          </a:p>
          <a:p>
            <a:pPr algn="ctr"/>
            <a:endParaRPr lang="fr-FR" sz="2400" dirty="0"/>
          </a:p>
          <a:p>
            <a:pPr algn="ctr"/>
            <a:r>
              <a:rPr lang="fr-FR" sz="2400" b="1" dirty="0">
                <a:solidFill>
                  <a:srgbClr val="8B1A2B"/>
                </a:solidFill>
                <a:latin typeface="Poppins"/>
              </a:rPr>
              <a:t>Mais on peut apprendre à apprivoiser la douleur, avec l'aide des docteurs et de sa famille !</a:t>
            </a:r>
          </a:p>
        </p:txBody>
      </p:sp>
      <p:sp>
        <p:nvSpPr>
          <p:cNvPr id="342" name="Dot 5-2"/>
          <p:cNvSpPr/>
          <p:nvPr/>
        </p:nvSpPr>
        <p:spPr>
          <a:xfrm>
            <a:off x="4460401" y="6607933"/>
            <a:ext cx="79200" cy="792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41" name="Dot 5-1"/>
          <p:cNvSpPr/>
          <p:nvPr/>
        </p:nvSpPr>
        <p:spPr>
          <a:xfrm>
            <a:off x="4632825" y="6659999"/>
            <a:ext cx="125999" cy="125999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40" name="Dot 5-0"/>
          <p:cNvSpPr/>
          <p:nvPr/>
        </p:nvSpPr>
        <p:spPr>
          <a:xfrm>
            <a:off x="4831913" y="6715725"/>
            <a:ext cx="180000" cy="1800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204" name="HeroBubble 5"/>
          <p:cNvSpPr/>
          <p:nvPr/>
        </p:nvSpPr>
        <p:spPr>
          <a:xfrm>
            <a:off x="5160988" y="5599726"/>
            <a:ext cx="1295999" cy="1295999"/>
          </a:xfrm>
          <a:prstGeom prst="ellipse">
            <a:avLst/>
          </a:prstGeom>
          <a:solidFill>
            <a:srgbClr val="FFFFFF">
              <a:alpha val="70000"/>
            </a:srgbClr>
          </a:solidFill>
          <a:ln w="15875">
            <a:solidFill>
              <a:srgbClr val="8B1A2B">
                <a:alpha val="35000"/>
              </a:srgbClr>
            </a:solidFill>
          </a:ln>
          <a:effectLst>
            <a:outerShdw blurRad="40000" dist="20000" dir="5400000" algn="t" rotWithShape="0">
              <a:srgbClr val="8B1A2B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5" name="Image 1" descr="unpacked/ppt/media/image_E673173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74662" y="5796000"/>
            <a:ext cx="1007999" cy="1007999"/>
          </a:xfrm>
          <a:prstGeom prst="rect">
            <a:avLst/>
          </a:prstGeom>
        </p:spPr>
      </p:pic>
      <p:sp>
        <p:nvSpPr>
          <p:cNvPr id="99" name="Footer"/>
          <p:cNvSpPr/>
          <p:nvPr/>
        </p:nvSpPr>
        <p:spPr>
          <a:xfrm>
            <a:off x="500000" y="10300000"/>
            <a:ext cx="656285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i="1">
                <a:solidFill>
                  <a:srgbClr val="666666"/>
                </a:solidFill>
                <a:latin typeface="Poppins" pitchFamily="34" charset="0"/>
                <a:ea typeface="Calibri" pitchFamily="34" charset="0"/>
                <a:cs typeface="Calibri" pitchFamily="34" charset="0"/>
              </a:rPr>
              <a:t>Fait par l’association Sed’Occ France 04/2026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69458873-06AC-4544-9442-F4907A7EC444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9802" t="10888" r="15836" b="19876"/>
          <a:stretch/>
        </p:blipFill>
        <p:spPr>
          <a:xfrm>
            <a:off x="6300000" y="9540000"/>
            <a:ext cx="1080000" cy="100799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8FF46D8-13B3-F144-B385-CDB16F8714CF}"/>
              </a:ext>
            </a:extLst>
          </p:cNvPr>
          <p:cNvSpPr/>
          <p:nvPr/>
        </p:nvSpPr>
        <p:spPr>
          <a:xfrm>
            <a:off x="778704" y="5451229"/>
            <a:ext cx="4227825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sz="2400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Avoir mal, c'est le corps qui envoie des signaux d'alarme.</a:t>
            </a:r>
            <a:endParaRPr lang="fr-FR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0000"/>
            <a:ext cx="6647688" cy="8279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800" b="1" dirty="0">
                <a:solidFill>
                  <a:srgbClr val="8B1A2B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Les aides et astuces</a:t>
            </a:r>
            <a:endParaRPr lang="fr-FR" sz="2800" dirty="0"/>
          </a:p>
          <a:p>
            <a:pPr marL="0" indent="0" algn="ctr">
              <a:buNone/>
            </a:pPr>
            <a:r>
              <a:rPr lang="fr-FR" sz="2800" b="1" dirty="0">
                <a:solidFill>
                  <a:srgbClr val="8B1A2B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(les supers outils)</a:t>
            </a:r>
            <a:endParaRPr lang="fr-FR" sz="2800" dirty="0"/>
          </a:p>
        </p:txBody>
      </p:sp>
      <p:sp>
        <p:nvSpPr>
          <p:cNvPr id="99" name="Footer"/>
          <p:cNvSpPr/>
          <p:nvPr/>
        </p:nvSpPr>
        <p:spPr>
          <a:xfrm>
            <a:off x="500000" y="10300000"/>
            <a:ext cx="656285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i="1">
                <a:solidFill>
                  <a:srgbClr val="666666"/>
                </a:solidFill>
                <a:latin typeface="Poppins" pitchFamily="34" charset="0"/>
                <a:ea typeface="Calibri" pitchFamily="34" charset="0"/>
                <a:cs typeface="Calibri" pitchFamily="34" charset="0"/>
              </a:rPr>
              <a:t>Fait par l’association Sed’Occ France 04/2026</a:t>
            </a:r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A6BDF365-924F-7648-87CF-5EA68FCA163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9802" t="10888" r="15836" b="19876"/>
          <a:stretch/>
        </p:blipFill>
        <p:spPr>
          <a:xfrm>
            <a:off x="6300000" y="9540000"/>
            <a:ext cx="1080000" cy="1007999"/>
          </a:xfrm>
          <a:prstGeom prst="rect">
            <a:avLst/>
          </a:prstGeom>
        </p:spPr>
      </p:pic>
      <p:pic>
        <p:nvPicPr>
          <p:cNvPr id="101" name="Picture 100" descr="image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5973" y="4214827"/>
            <a:ext cx="2624452" cy="1874574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pic>
        <p:nvPicPr>
          <p:cNvPr id="102" name="Picture 101" descr="image.jpe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38625" y="7163385"/>
            <a:ext cx="2595825" cy="1914632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pic>
        <p:nvPicPr>
          <p:cNvPr id="103" name="Picture 102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09825" y="5768995"/>
            <a:ext cx="2550676" cy="1755747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pic>
        <p:nvPicPr>
          <p:cNvPr id="104" name="Picture 103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6190" y="7199865"/>
            <a:ext cx="2560435" cy="187200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pic>
        <p:nvPicPr>
          <p:cNvPr id="105" name="Picture 104" descr="image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62425" y="4222027"/>
            <a:ext cx="2672025" cy="1872000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sp>
        <p:nvSpPr>
          <p:cNvPr id="352" name="Dot 6-2"/>
          <p:cNvSpPr/>
          <p:nvPr/>
        </p:nvSpPr>
        <p:spPr>
          <a:xfrm>
            <a:off x="4920901" y="2336400"/>
            <a:ext cx="79200" cy="792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51" name="Dot 6-1"/>
          <p:cNvSpPr/>
          <p:nvPr/>
        </p:nvSpPr>
        <p:spPr>
          <a:xfrm>
            <a:off x="5074955" y="2207702"/>
            <a:ext cx="125999" cy="125999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50" name="Dot 6-0"/>
          <p:cNvSpPr/>
          <p:nvPr/>
        </p:nvSpPr>
        <p:spPr>
          <a:xfrm flipH="1">
            <a:off x="5324241" y="2039404"/>
            <a:ext cx="169809" cy="168298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205" name="HeroBubble 6"/>
          <p:cNvSpPr/>
          <p:nvPr/>
        </p:nvSpPr>
        <p:spPr>
          <a:xfrm>
            <a:off x="5538451" y="2171702"/>
            <a:ext cx="1295999" cy="1295999"/>
          </a:xfrm>
          <a:prstGeom prst="ellipse">
            <a:avLst/>
          </a:prstGeom>
          <a:solidFill>
            <a:srgbClr val="FFFFFF">
              <a:alpha val="70000"/>
            </a:srgbClr>
          </a:solidFill>
          <a:ln w="15875">
            <a:solidFill>
              <a:srgbClr val="8B1A2B">
                <a:alpha val="35000"/>
              </a:srgbClr>
            </a:solidFill>
          </a:ln>
          <a:effectLst>
            <a:outerShdw blurRad="40000" dist="20000" dir="5400000" algn="t" rotWithShape="0">
              <a:srgbClr val="8B1A2B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06" name="Picture 105" descr="image.jpe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39304" y="2324298"/>
            <a:ext cx="1007999" cy="1007999"/>
          </a:xfrm>
          <a:prstGeom prst="rect">
            <a:avLst/>
          </a:prstGeom>
        </p:spPr>
      </p:pic>
      <p:sp>
        <p:nvSpPr>
          <p:cNvPr id="17" name="Text 1">
            <a:extLst>
              <a:ext uri="{FF2B5EF4-FFF2-40B4-BE49-F238E27FC236}">
                <a16:creationId xmlns:a16="http://schemas.microsoft.com/office/drawing/2014/main" id="{E2DCB18F-0F80-8B4A-AAD9-E7E70105770E}"/>
              </a:ext>
            </a:extLst>
          </p:cNvPr>
          <p:cNvSpPr/>
          <p:nvPr/>
        </p:nvSpPr>
        <p:spPr>
          <a:xfrm>
            <a:off x="457200" y="1615750"/>
            <a:ext cx="4476000" cy="16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endParaRPr lang="fr-FR" sz="2400" dirty="0">
              <a:solidFill>
                <a:srgbClr val="333333"/>
              </a:solidFill>
              <a:latin typeface="Poppins"/>
            </a:endParaRPr>
          </a:p>
          <a:p>
            <a:pPr marL="0" indent="0" algn="ctr">
              <a:buNone/>
            </a:pPr>
            <a:r>
              <a:rPr lang="fr-FR" sz="2400" dirty="0">
                <a:solidFill>
                  <a:srgbClr val="333333"/>
                </a:solidFill>
                <a:latin typeface="Poppins"/>
              </a:rPr>
              <a:t>Les béquilles, les attelles, les vêtements de compression.</a:t>
            </a:r>
            <a:endParaRPr lang="fr-FR" sz="2400" dirty="0"/>
          </a:p>
          <a:p>
            <a:pPr algn="ctr"/>
            <a:r>
              <a:rPr lang="fr-FR" sz="2400" b="1" dirty="0">
                <a:solidFill>
                  <a:srgbClr val="333333"/>
                </a:solidFill>
                <a:latin typeface="Poppins"/>
              </a:rPr>
              <a:t>Ce sont nos outils de super-héros pour aider notre colle spéciale 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0000"/>
            <a:ext cx="6647688" cy="64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800" b="1" dirty="0">
                <a:solidFill>
                  <a:srgbClr val="8B1A2B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Jouons ensemble</a:t>
            </a:r>
            <a:r>
              <a:rPr lang="fr-FR" sz="2800" dirty="0"/>
              <a:t> </a:t>
            </a:r>
            <a:r>
              <a:rPr lang="fr-FR" sz="2800" b="1" dirty="0">
                <a:solidFill>
                  <a:srgbClr val="8B1A2B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avec bienveillance !</a:t>
            </a:r>
            <a:endParaRPr lang="fr-FR" sz="2800" dirty="0"/>
          </a:p>
        </p:txBody>
      </p:sp>
      <p:sp>
        <p:nvSpPr>
          <p:cNvPr id="3" name="Text 1"/>
          <p:cNvSpPr/>
          <p:nvPr/>
        </p:nvSpPr>
        <p:spPr>
          <a:xfrm>
            <a:off x="592319" y="3006060"/>
            <a:ext cx="5040000" cy="134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FR" sz="2400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Dans la cour, on peut s'amuser ensemble à des </a:t>
            </a:r>
            <a:r>
              <a:rPr lang="fr-FR" sz="2400" b="1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jeux sans bousculade</a:t>
            </a:r>
            <a:r>
              <a:rPr lang="fr-FR" sz="2400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 : la marelle, la corde à sauter, les jeux de société, le dessin...</a:t>
            </a:r>
            <a:endParaRPr lang="fr-FR" sz="2400" dirty="0"/>
          </a:p>
        </p:txBody>
      </p:sp>
      <p:pic>
        <p:nvPicPr>
          <p:cNvPr id="4" name="Image 0" descr="unpacked/ppt/media/image_34176320.jpg"/>
          <p:cNvPicPr>
            <a:picLocks noChangeAspect="1"/>
          </p:cNvPicPr>
          <p:nvPr/>
        </p:nvPicPr>
        <p:blipFill>
          <a:blip r:embed="rId4"/>
          <a:srcRect t="14115" b="14115"/>
          <a:stretch/>
        </p:blipFill>
        <p:spPr>
          <a:xfrm>
            <a:off x="786951" y="5096550"/>
            <a:ext cx="5853112" cy="3211241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sp>
        <p:nvSpPr>
          <p:cNvPr id="362" name="Dot 7-2"/>
          <p:cNvSpPr/>
          <p:nvPr/>
        </p:nvSpPr>
        <p:spPr>
          <a:xfrm>
            <a:off x="5553119" y="2644641"/>
            <a:ext cx="79200" cy="792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61" name="Dot 7-1"/>
          <p:cNvSpPr/>
          <p:nvPr/>
        </p:nvSpPr>
        <p:spPr>
          <a:xfrm>
            <a:off x="5632612" y="2816701"/>
            <a:ext cx="125999" cy="125999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60" name="Dot 7-0"/>
          <p:cNvSpPr/>
          <p:nvPr/>
        </p:nvSpPr>
        <p:spPr>
          <a:xfrm>
            <a:off x="5735767" y="2953759"/>
            <a:ext cx="180000" cy="1800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206" name="HeroBubble 7"/>
          <p:cNvSpPr/>
          <p:nvPr/>
        </p:nvSpPr>
        <p:spPr>
          <a:xfrm>
            <a:off x="5664960" y="3081589"/>
            <a:ext cx="1295999" cy="1295999"/>
          </a:xfrm>
          <a:prstGeom prst="ellipse">
            <a:avLst/>
          </a:prstGeom>
          <a:solidFill>
            <a:srgbClr val="FFFFFF">
              <a:alpha val="70000"/>
            </a:srgbClr>
          </a:solidFill>
          <a:ln w="15875">
            <a:solidFill>
              <a:srgbClr val="8B1A2B">
                <a:alpha val="35000"/>
              </a:srgbClr>
            </a:solidFill>
          </a:ln>
          <a:effectLst>
            <a:outerShdw blurRad="40000" dist="20000" dir="5400000" algn="t" rotWithShape="0">
              <a:srgbClr val="8B1A2B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5" name="Image 1" descr="unpacked/ppt/media/image_E673173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8967" y="3234964"/>
            <a:ext cx="1007999" cy="1007999"/>
          </a:xfrm>
          <a:prstGeom prst="rect">
            <a:avLst/>
          </a:prstGeom>
        </p:spPr>
      </p:pic>
      <p:sp>
        <p:nvSpPr>
          <p:cNvPr id="99" name="Footer"/>
          <p:cNvSpPr/>
          <p:nvPr/>
        </p:nvSpPr>
        <p:spPr>
          <a:xfrm>
            <a:off x="500000" y="10300000"/>
            <a:ext cx="656285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i="1">
                <a:solidFill>
                  <a:srgbClr val="666666"/>
                </a:solidFill>
                <a:latin typeface="Poppins" pitchFamily="34" charset="0"/>
                <a:ea typeface="Calibri" pitchFamily="34" charset="0"/>
                <a:cs typeface="Calibri" pitchFamily="34" charset="0"/>
              </a:rPr>
              <a:t>Fait par l’association Sed’Occ France 04/2026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9D7E1C6A-FBA3-D34A-B763-54C2F74994B1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9802" t="10888" r="15836" b="19876"/>
          <a:stretch/>
        </p:blipFill>
        <p:spPr>
          <a:xfrm>
            <a:off x="6300000" y="9540000"/>
            <a:ext cx="1080000" cy="100799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637792D-573F-9345-B686-EF59C5D4B0A7}"/>
              </a:ext>
            </a:extLst>
          </p:cNvPr>
          <p:cNvSpPr/>
          <p:nvPr/>
        </p:nvSpPr>
        <p:spPr>
          <a:xfrm>
            <a:off x="578561" y="1152000"/>
            <a:ext cx="6250864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FR" sz="2400" b="1" dirty="0">
                <a:solidFill>
                  <a:srgbClr val="8B1A2B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Sois un super copain !</a:t>
            </a:r>
            <a:endParaRPr lang="fr-FR" sz="2400" b="1" dirty="0"/>
          </a:p>
          <a:p>
            <a:r>
              <a:rPr lang="fr-FR" sz="2400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Ton copain avec le SED a une colle spéciale qui le rend plus fragile. Ce n'est pas de sa faute, et il a besoin de ta gentillesse !</a:t>
            </a:r>
            <a:endParaRPr lang="fr-FR" sz="24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FD6C0EA-2F6B-3343-B0CA-52EAB84A47A3}"/>
              </a:ext>
            </a:extLst>
          </p:cNvPr>
          <p:cNvSpPr/>
          <p:nvPr/>
        </p:nvSpPr>
        <p:spPr>
          <a:xfrm>
            <a:off x="786951" y="9050779"/>
            <a:ext cx="58674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fr-FR" sz="2400" b="1" dirty="0">
                <a:solidFill>
                  <a:srgbClr val="333333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Pas besoin de se pousser pour bien rigoler !</a:t>
            </a:r>
            <a:endParaRPr lang="fr-FR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0000"/>
            <a:ext cx="6647688" cy="64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>
                <a:solidFill>
                  <a:srgbClr val="8B1A2B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Ensemble, on est plus forts !</a:t>
            </a:r>
            <a:endParaRPr lang="en-US" sz="3000"/>
          </a:p>
        </p:txBody>
      </p:sp>
      <p:pic>
        <p:nvPicPr>
          <p:cNvPr id="3" name="Image 0" descr="unpacked/ppt/media/image_3304ECD1.jpg"/>
          <p:cNvPicPr>
            <a:picLocks noChangeAspect="1"/>
          </p:cNvPicPr>
          <p:nvPr/>
        </p:nvPicPr>
        <p:blipFill>
          <a:blip r:embed="rId4"/>
          <a:srcRect l="4962" r="4962"/>
          <a:stretch/>
        </p:blipFill>
        <p:spPr>
          <a:xfrm>
            <a:off x="914781" y="1490708"/>
            <a:ext cx="5733288" cy="3657796"/>
          </a:xfrm>
          <a:prstGeom prst="roundRect">
            <a:avLst>
              <a:gd name="adj" fmla="val 3000"/>
            </a:avLst>
          </a:prstGeom>
          <a:effectLst>
            <a:outerShdw blurRad="76200" dist="38100" dir="5400000" algn="t" rotWithShape="0">
              <a:srgbClr val="8B1A2B">
                <a:alpha val="22000"/>
              </a:srgbClr>
            </a:outerShdw>
          </a:effectLst>
        </p:spPr>
      </p:pic>
      <p:sp>
        <p:nvSpPr>
          <p:cNvPr id="4" name="Text 1"/>
          <p:cNvSpPr/>
          <p:nvPr/>
        </p:nvSpPr>
        <p:spPr>
          <a:xfrm>
            <a:off x="914781" y="5771474"/>
            <a:ext cx="5533644" cy="2620845"/>
          </a:xfrm>
          <a:prstGeom prst="rect">
            <a:avLst/>
          </a:prstGeom>
          <a:noFill/>
          <a:ln/>
        </p:spPr>
        <p:txBody>
          <a:bodyPr/>
          <a:lstStyle/>
          <a:p>
            <a:pPr algn="l"/>
            <a:r>
              <a:rPr lang="fr-FR" sz="2400" dirty="0">
                <a:solidFill>
                  <a:srgbClr val="333333"/>
                </a:solidFill>
                <a:latin typeface="Poppins"/>
              </a:rPr>
              <a:t>On peut parler, se comprendre et </a:t>
            </a:r>
          </a:p>
          <a:p>
            <a:pPr algn="l"/>
            <a:r>
              <a:rPr lang="fr-FR" sz="2400" dirty="0">
                <a:solidFill>
                  <a:srgbClr val="333333"/>
                </a:solidFill>
                <a:latin typeface="Poppins"/>
              </a:rPr>
              <a:t>Trouver des solutions ensemble.</a:t>
            </a:r>
          </a:p>
          <a:p>
            <a:pPr algn="l"/>
            <a:endParaRPr lang="fr-FR" sz="2400" dirty="0">
              <a:solidFill>
                <a:srgbClr val="333333"/>
              </a:solidFill>
              <a:latin typeface="Poppins"/>
            </a:endParaRPr>
          </a:p>
          <a:p>
            <a:pPr algn="l">
              <a:spcBef>
                <a:spcPts val="400"/>
              </a:spcBef>
            </a:pPr>
            <a:r>
              <a:rPr lang="fr-FR" sz="2400" b="1" dirty="0">
                <a:solidFill>
                  <a:srgbClr val="333333"/>
                </a:solidFill>
                <a:latin typeface="Poppins"/>
              </a:rPr>
              <a:t>C'est important de se sentir entouré.</a:t>
            </a:r>
          </a:p>
          <a:p>
            <a:pPr algn="l">
              <a:spcBef>
                <a:spcPts val="400"/>
              </a:spcBef>
            </a:pPr>
            <a:endParaRPr lang="fr-FR" sz="2400" b="1" dirty="0">
              <a:solidFill>
                <a:srgbClr val="333333"/>
              </a:solidFill>
              <a:latin typeface="Poppins"/>
            </a:endParaRPr>
          </a:p>
          <a:p>
            <a:pPr algn="l">
              <a:spcBef>
                <a:spcPts val="400"/>
              </a:spcBef>
            </a:pPr>
            <a:r>
              <a:rPr lang="fr-FR" sz="2400" b="1" dirty="0">
                <a:solidFill>
                  <a:srgbClr val="8B1A2B"/>
                </a:solidFill>
                <a:latin typeface="Poppins"/>
              </a:rPr>
              <a:t>Tu es un super-héros, n'oublie jamais !</a:t>
            </a:r>
          </a:p>
        </p:txBody>
      </p:sp>
      <p:sp>
        <p:nvSpPr>
          <p:cNvPr id="372" name="Dot 8-2"/>
          <p:cNvSpPr/>
          <p:nvPr/>
        </p:nvSpPr>
        <p:spPr>
          <a:xfrm>
            <a:off x="5457825" y="6095920"/>
            <a:ext cx="79200" cy="792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71" name="Dot 8-1"/>
          <p:cNvSpPr/>
          <p:nvPr/>
        </p:nvSpPr>
        <p:spPr>
          <a:xfrm>
            <a:off x="5562001" y="6258719"/>
            <a:ext cx="125999" cy="125999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370" name="Dot 8-0"/>
          <p:cNvSpPr/>
          <p:nvPr/>
        </p:nvSpPr>
        <p:spPr>
          <a:xfrm>
            <a:off x="5635158" y="6409198"/>
            <a:ext cx="180000" cy="180000"/>
          </a:xfrm>
          <a:prstGeom prst="ellipse">
            <a:avLst/>
          </a:prstGeom>
          <a:solidFill>
            <a:srgbClr val="FFFFFF">
              <a:alpha val="65000"/>
            </a:srgbClr>
          </a:solidFill>
          <a:ln w="12700">
            <a:solidFill>
              <a:srgbClr val="8B1A2B">
                <a:alpha val="30000"/>
              </a:srgbClr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207" name="HeroBubble 8"/>
          <p:cNvSpPr/>
          <p:nvPr/>
        </p:nvSpPr>
        <p:spPr>
          <a:xfrm>
            <a:off x="5835539" y="6258719"/>
            <a:ext cx="1295999" cy="1295999"/>
          </a:xfrm>
          <a:prstGeom prst="ellipse">
            <a:avLst/>
          </a:prstGeom>
          <a:solidFill>
            <a:srgbClr val="FFFFFF">
              <a:alpha val="70000"/>
            </a:srgbClr>
          </a:solidFill>
          <a:ln w="15875">
            <a:solidFill>
              <a:srgbClr val="8B1A2B">
                <a:alpha val="35000"/>
              </a:srgbClr>
            </a:solidFill>
          </a:ln>
          <a:effectLst>
            <a:outerShdw blurRad="40000" dist="20000" dir="5400000" algn="t" rotWithShape="0">
              <a:srgbClr val="8B1A2B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5" name="Image 1" descr="unpacked/ppt/media/image_E673173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54851" y="6384718"/>
            <a:ext cx="1007999" cy="1007999"/>
          </a:xfrm>
          <a:prstGeom prst="rect">
            <a:avLst/>
          </a:prstGeom>
        </p:spPr>
      </p:pic>
      <p:sp>
        <p:nvSpPr>
          <p:cNvPr id="99" name="Footer"/>
          <p:cNvSpPr/>
          <p:nvPr/>
        </p:nvSpPr>
        <p:spPr>
          <a:xfrm>
            <a:off x="500000" y="10300000"/>
            <a:ext cx="656285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i="1">
                <a:solidFill>
                  <a:srgbClr val="666666"/>
                </a:solidFill>
                <a:latin typeface="Poppins" pitchFamily="34" charset="0"/>
                <a:ea typeface="Calibri" pitchFamily="34" charset="0"/>
                <a:cs typeface="Calibri" pitchFamily="34" charset="0"/>
              </a:rPr>
              <a:t>Fait par l’association Sed’Occ France 04/2026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21E0B056-8D9F-8042-A02E-B988B66CF19F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9802" t="10888" r="15836" b="19876"/>
          <a:stretch/>
        </p:blipFill>
        <p:spPr>
          <a:xfrm>
            <a:off x="6300000" y="9540000"/>
            <a:ext cx="1080000" cy="100799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0000"/>
            <a:ext cx="6647688" cy="64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>
                <a:solidFill>
                  <a:srgbClr val="8B1A2B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Pour tes parents</a:t>
            </a:r>
            <a:endParaRPr lang="en-US" sz="3000"/>
          </a:p>
        </p:txBody>
      </p:sp>
      <p:sp>
        <p:nvSpPr>
          <p:cNvPr id="99" name="Footer"/>
          <p:cNvSpPr/>
          <p:nvPr/>
        </p:nvSpPr>
        <p:spPr>
          <a:xfrm>
            <a:off x="500000" y="10300000"/>
            <a:ext cx="656285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i="1">
                <a:solidFill>
                  <a:srgbClr val="666666"/>
                </a:solidFill>
                <a:latin typeface="Poppins" pitchFamily="34" charset="0"/>
                <a:ea typeface="Calibri" pitchFamily="34" charset="0"/>
                <a:cs typeface="Calibri" pitchFamily="34" charset="0"/>
              </a:rPr>
              <a:t>Fait par l’association Sed’Occ France 04/2026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21E0B056-8D9F-8042-A02E-B988B66CF19F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9802" t="10888" r="15836" b="19876"/>
          <a:stretch/>
        </p:blipFill>
        <p:spPr>
          <a:xfrm>
            <a:off x="6300000" y="9540000"/>
            <a:ext cx="1080000" cy="100799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281425" y="4200000"/>
            <a:ext cx="5000000" cy="2400000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>
              <a:spcBef>
                <a:spcPts val="300"/>
              </a:spcBef>
            </a:pPr>
            <a:r>
              <a:rPr lang="fr-FR" sz="2400" dirty="0">
                <a:solidFill>
                  <a:srgbClr val="666666"/>
                </a:solidFill>
                <a:latin typeface="Poppins"/>
              </a:rPr>
              <a:t>Site internet : </a:t>
            </a:r>
            <a:r>
              <a:rPr lang="fr-FR" sz="2400" dirty="0" err="1">
                <a:solidFill>
                  <a:srgbClr val="666666"/>
                </a:solidFill>
                <a:latin typeface="Poppins"/>
              </a:rPr>
              <a:t>www.sedocc.fr</a:t>
            </a:r>
            <a:endParaRPr lang="fr-FR" sz="2400" dirty="0">
              <a:solidFill>
                <a:srgbClr val="666666"/>
              </a:solidFill>
              <a:latin typeface="Poppins"/>
            </a:endParaRPr>
          </a:p>
          <a:p>
            <a:pPr algn="ctr"/>
            <a:r>
              <a:rPr lang="fr-FR" sz="2400" dirty="0">
                <a:solidFill>
                  <a:srgbClr val="666666"/>
                </a:solidFill>
                <a:latin typeface="Poppins"/>
              </a:rPr>
              <a:t>Email : Sedocc31@gmail.com</a:t>
            </a:r>
          </a:p>
          <a:p>
            <a:pPr algn="ctr"/>
            <a:r>
              <a:rPr lang="fr-FR" sz="2400" dirty="0">
                <a:solidFill>
                  <a:srgbClr val="666666"/>
                </a:solidFill>
                <a:latin typeface="Poppins"/>
              </a:rPr>
              <a:t>Facebook : </a:t>
            </a:r>
            <a:r>
              <a:rPr lang="fr-FR" sz="2400" dirty="0" err="1">
                <a:solidFill>
                  <a:srgbClr val="666666"/>
                </a:solidFill>
                <a:latin typeface="Poppins"/>
              </a:rPr>
              <a:t>SedOcc</a:t>
            </a:r>
            <a:endParaRPr lang="fr-FR" dirty="0">
              <a:solidFill>
                <a:srgbClr val="666666"/>
              </a:solidFill>
              <a:latin typeface="Poppin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6647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800" b="1" dirty="0">
                <a:solidFill>
                  <a:srgbClr val="8B1A2B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Mon niveau de super-énergie !</a:t>
            </a:r>
            <a:endParaRPr lang="fr-FR" sz="2800" dirty="0"/>
          </a:p>
        </p:txBody>
      </p:sp>
      <p:sp>
        <p:nvSpPr>
          <p:cNvPr id="99" name="Footer"/>
          <p:cNvSpPr/>
          <p:nvPr/>
        </p:nvSpPr>
        <p:spPr>
          <a:xfrm>
            <a:off x="500000" y="10300000"/>
            <a:ext cx="656285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i="1">
                <a:solidFill>
                  <a:srgbClr val="666666"/>
                </a:solidFill>
                <a:latin typeface="Poppins" pitchFamily="34" charset="0"/>
                <a:ea typeface="Calibri" pitchFamily="34" charset="0"/>
                <a:cs typeface="Calibri" pitchFamily="34" charset="0"/>
              </a:rPr>
              <a:t>Fait par l’association Sed’Occ France 04/2026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1272B92B-21E4-464F-9F8E-4A62B1E16185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9802" t="10888" r="15836" b="19876"/>
          <a:stretch/>
        </p:blipFill>
        <p:spPr>
          <a:xfrm>
            <a:off x="6300000" y="9540000"/>
            <a:ext cx="1080000" cy="1007999"/>
          </a:xfrm>
          <a:prstGeom prst="rect">
            <a:avLst/>
          </a:prstGeom>
        </p:spPr>
      </p:pic>
      <p:sp>
        <p:nvSpPr>
          <p:cNvPr id="50" name="Text 50"/>
          <p:cNvSpPr/>
          <p:nvPr/>
        </p:nvSpPr>
        <p:spPr>
          <a:xfrm>
            <a:off x="457200" y="1080000"/>
            <a:ext cx="6647688" cy="1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FR" sz="1800" b="0" dirty="0">
                <a:solidFill>
                  <a:srgbClr val="333333"/>
                </a:solidFill>
                <a:latin typeface="Poppins"/>
              </a:rPr>
              <a:t>Comme on l'a vu, à cause de la colle lâche, le corps fait plus d'efforts et la grande batterie peut se vider plus vite. C'est normal !</a:t>
            </a:r>
          </a:p>
          <a:p>
            <a:pPr marL="0" indent="0" algn="ctr">
              <a:buNone/>
            </a:pPr>
            <a:r>
              <a:rPr lang="fr-FR" sz="1800" b="0" dirty="0">
                <a:solidFill>
                  <a:srgbClr val="333333"/>
                </a:solidFill>
                <a:latin typeface="Poppins"/>
              </a:rPr>
              <a:t>Parfois, quand la batterie est à plat ou que les alarmes sonnent, tu as le droit de te sentir triste ou en colère. L'important, c'est d'apprendre à écouter ton corps.</a:t>
            </a:r>
          </a:p>
          <a:p>
            <a:pPr marL="0" indent="0" algn="ctr">
              <a:buNone/>
            </a:pPr>
            <a:r>
              <a:rPr lang="fr-FR" sz="1800" b="1" dirty="0">
                <a:solidFill>
                  <a:srgbClr val="8B1A2B"/>
                </a:solidFill>
                <a:latin typeface="Poppins"/>
              </a:rPr>
              <a:t>Montre à tes parents ou à tes copains où en est ta batterie aujourd'hui :</a:t>
            </a:r>
          </a:p>
        </p:txBody>
      </p:sp>
      <p:sp>
        <p:nvSpPr>
          <p:cNvPr id="61" name="Card 61"/>
          <p:cNvSpPr/>
          <p:nvPr/>
        </p:nvSpPr>
        <p:spPr>
          <a:xfrm>
            <a:off x="457200" y="3350000"/>
            <a:ext cx="2050000" cy="44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B1A2B">
                <a:alpha val="15000"/>
              </a:srgbClr>
            </a:solidFill>
          </a:ln>
          <a:effectLst>
            <a:outerShdw blurRad="60000" dist="20000" dir="5400000" algn="t" rotWithShape="0">
              <a:srgbClr val="8B1A2B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2" name="BattBody 62"/>
          <p:cNvSpPr/>
          <p:nvPr/>
        </p:nvSpPr>
        <p:spPr>
          <a:xfrm>
            <a:off x="1122200" y="3610000"/>
            <a:ext cx="720000" cy="380000"/>
          </a:xfrm>
          <a:prstGeom prst="roundRect">
            <a:avLst>
              <a:gd name="adj" fmla="val 15000"/>
            </a:avLst>
          </a:prstGeom>
          <a:noFill/>
          <a:ln w="28575">
            <a:solidFill>
              <a:srgbClr val="8B1A2B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63" name="BattNub 63"/>
          <p:cNvSpPr/>
          <p:nvPr/>
        </p:nvSpPr>
        <p:spPr>
          <a:xfrm>
            <a:off x="1842200" y="3740000"/>
            <a:ext cx="45000" cy="120000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64" name="BattFill 64"/>
          <p:cNvSpPr/>
          <p:nvPr/>
        </p:nvSpPr>
        <p:spPr>
          <a:xfrm>
            <a:off x="1142200" y="3630000"/>
            <a:ext cx="680000" cy="340000"/>
          </a:xfrm>
          <a:prstGeom prst="roundRect">
            <a:avLst>
              <a:gd name="adj" fmla="val 15000"/>
            </a:avLst>
          </a:prstGeom>
          <a:solidFill>
            <a:srgbClr val="5CA86B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65" name="Text 65"/>
          <p:cNvSpPr/>
          <p:nvPr/>
        </p:nvSpPr>
        <p:spPr>
          <a:xfrm>
            <a:off x="507200" y="4110000"/>
            <a:ext cx="195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FR" sz="1500" b="1" dirty="0">
                <a:solidFill>
                  <a:srgbClr val="8B1A2B"/>
                </a:solidFill>
                <a:latin typeface="Poppins"/>
              </a:rPr>
              <a:t>Pile Verte</a:t>
            </a:r>
          </a:p>
          <a:p>
            <a:pPr marL="0" indent="0" algn="ctr">
              <a:buNone/>
            </a:pPr>
            <a:r>
              <a:rPr lang="fr-FR" sz="1500" b="1" dirty="0">
                <a:solidFill>
                  <a:srgbClr val="8B1A2B"/>
                </a:solidFill>
                <a:latin typeface="Poppins"/>
              </a:rPr>
              <a:t>(Pleine)</a:t>
            </a:r>
          </a:p>
        </p:txBody>
      </p:sp>
      <p:sp>
        <p:nvSpPr>
          <p:cNvPr id="66" name="Text 66"/>
          <p:cNvSpPr/>
          <p:nvPr/>
        </p:nvSpPr>
        <p:spPr>
          <a:xfrm>
            <a:off x="537200" y="4890000"/>
            <a:ext cx="1890000" cy="28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FR" sz="1150" b="0" dirty="0">
                <a:solidFill>
                  <a:srgbClr val="333333"/>
                </a:solidFill>
                <a:latin typeface="Poppins"/>
              </a:rPr>
              <a:t>Je suis en pleine forme ! Je peux jouer, mais je fais attention à ma colle magique.</a:t>
            </a:r>
          </a:p>
        </p:txBody>
      </p:sp>
      <p:sp>
        <p:nvSpPr>
          <p:cNvPr id="67" name="Card 67"/>
          <p:cNvSpPr/>
          <p:nvPr/>
        </p:nvSpPr>
        <p:spPr>
          <a:xfrm>
            <a:off x="2756044" y="3350000"/>
            <a:ext cx="2050000" cy="44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B1A2B">
                <a:alpha val="15000"/>
              </a:srgbClr>
            </a:solidFill>
          </a:ln>
          <a:effectLst>
            <a:outerShdw blurRad="60000" dist="20000" dir="5400000" algn="t" rotWithShape="0">
              <a:srgbClr val="8B1A2B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8" name="BattBody 68"/>
          <p:cNvSpPr/>
          <p:nvPr/>
        </p:nvSpPr>
        <p:spPr>
          <a:xfrm>
            <a:off x="3421044" y="3610000"/>
            <a:ext cx="720000" cy="380000"/>
          </a:xfrm>
          <a:prstGeom prst="roundRect">
            <a:avLst>
              <a:gd name="adj" fmla="val 15000"/>
            </a:avLst>
          </a:prstGeom>
          <a:noFill/>
          <a:ln w="28575">
            <a:solidFill>
              <a:srgbClr val="8B1A2B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69" name="BattNub 69"/>
          <p:cNvSpPr/>
          <p:nvPr/>
        </p:nvSpPr>
        <p:spPr>
          <a:xfrm>
            <a:off x="4141044" y="3740000"/>
            <a:ext cx="45000" cy="120000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70" name="BattFill 70"/>
          <p:cNvSpPr/>
          <p:nvPr/>
        </p:nvSpPr>
        <p:spPr>
          <a:xfrm>
            <a:off x="3441044" y="3630000"/>
            <a:ext cx="408000" cy="340000"/>
          </a:xfrm>
          <a:prstGeom prst="roundRect">
            <a:avLst>
              <a:gd name="adj" fmla="val 15000"/>
            </a:avLst>
          </a:prstGeom>
          <a:solidFill>
            <a:srgbClr val="E8963D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71" name="Text 71"/>
          <p:cNvSpPr/>
          <p:nvPr/>
        </p:nvSpPr>
        <p:spPr>
          <a:xfrm>
            <a:off x="2806044" y="4110000"/>
            <a:ext cx="195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FR" sz="1500" b="1" dirty="0">
                <a:solidFill>
                  <a:srgbClr val="8B1A2B"/>
                </a:solidFill>
                <a:latin typeface="Poppins"/>
              </a:rPr>
              <a:t>Pile Orange</a:t>
            </a:r>
          </a:p>
          <a:p>
            <a:pPr marL="0" indent="0" algn="ctr">
              <a:buNone/>
            </a:pPr>
            <a:r>
              <a:rPr lang="fr-FR" sz="1500" b="1" dirty="0">
                <a:solidFill>
                  <a:srgbClr val="8B1A2B"/>
                </a:solidFill>
                <a:latin typeface="Poppins"/>
              </a:rPr>
              <a:t>(Moyenne)</a:t>
            </a:r>
          </a:p>
        </p:txBody>
      </p:sp>
      <p:sp>
        <p:nvSpPr>
          <p:cNvPr id="72" name="Text 72"/>
          <p:cNvSpPr/>
          <p:nvPr/>
        </p:nvSpPr>
        <p:spPr>
          <a:xfrm>
            <a:off x="2836044" y="4890000"/>
            <a:ext cx="1890000" cy="28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FR" sz="1150" b="0" dirty="0">
                <a:solidFill>
                  <a:srgbClr val="333333"/>
                </a:solidFill>
                <a:latin typeface="Poppins"/>
              </a:rPr>
              <a:t>Ma batterie baisse un peu... J'ai besoin de faire une pause ou de choisir un jeu calme, comme le dessin.</a:t>
            </a:r>
          </a:p>
        </p:txBody>
      </p:sp>
      <p:sp>
        <p:nvSpPr>
          <p:cNvPr id="73" name="Card 73"/>
          <p:cNvSpPr/>
          <p:nvPr/>
        </p:nvSpPr>
        <p:spPr>
          <a:xfrm>
            <a:off x="5054888" y="3350000"/>
            <a:ext cx="2050000" cy="440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8B1A2B">
                <a:alpha val="15000"/>
              </a:srgbClr>
            </a:solidFill>
          </a:ln>
          <a:effectLst>
            <a:outerShdw blurRad="60000" dist="20000" dir="5400000" algn="t" rotWithShape="0">
              <a:srgbClr val="8B1A2B">
                <a:alpha val="18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74" name="BattBody 74"/>
          <p:cNvSpPr/>
          <p:nvPr/>
        </p:nvSpPr>
        <p:spPr>
          <a:xfrm>
            <a:off x="5719888" y="3610000"/>
            <a:ext cx="720000" cy="380000"/>
          </a:xfrm>
          <a:prstGeom prst="roundRect">
            <a:avLst>
              <a:gd name="adj" fmla="val 15000"/>
            </a:avLst>
          </a:prstGeom>
          <a:noFill/>
          <a:ln w="28575">
            <a:solidFill>
              <a:srgbClr val="8B1A2B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75" name="BattNub 75"/>
          <p:cNvSpPr/>
          <p:nvPr/>
        </p:nvSpPr>
        <p:spPr>
          <a:xfrm>
            <a:off x="6439888" y="3740000"/>
            <a:ext cx="45000" cy="120000"/>
          </a:xfrm>
          <a:prstGeom prst="rect">
            <a:avLst/>
          </a:prstGeom>
          <a:solidFill>
            <a:srgbClr val="8B1A2B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76" name="BattFill 76"/>
          <p:cNvSpPr/>
          <p:nvPr/>
        </p:nvSpPr>
        <p:spPr>
          <a:xfrm>
            <a:off x="5739888" y="3630000"/>
            <a:ext cx="170000" cy="340000"/>
          </a:xfrm>
          <a:prstGeom prst="roundRect">
            <a:avLst>
              <a:gd name="adj" fmla="val 15000"/>
            </a:avLst>
          </a:prstGeom>
          <a:solidFill>
            <a:srgbClr val="C94F4F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77" name="Text 77"/>
          <p:cNvSpPr/>
          <p:nvPr/>
        </p:nvSpPr>
        <p:spPr>
          <a:xfrm>
            <a:off x="5104888" y="4110000"/>
            <a:ext cx="195000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FR" sz="1500" b="1" dirty="0">
                <a:solidFill>
                  <a:srgbClr val="8B1A2B"/>
                </a:solidFill>
                <a:latin typeface="Poppins"/>
              </a:rPr>
              <a:t>Pile Rouge</a:t>
            </a:r>
          </a:p>
          <a:p>
            <a:pPr marL="0" indent="0" algn="ctr">
              <a:buNone/>
            </a:pPr>
            <a:r>
              <a:rPr lang="fr-FR" sz="1500" b="1" dirty="0">
                <a:solidFill>
                  <a:srgbClr val="8B1A2B"/>
                </a:solidFill>
                <a:latin typeface="Poppins"/>
              </a:rPr>
              <a:t>(Vide)</a:t>
            </a:r>
          </a:p>
        </p:txBody>
      </p:sp>
      <p:sp>
        <p:nvSpPr>
          <p:cNvPr id="78" name="Text 78"/>
          <p:cNvSpPr/>
          <p:nvPr/>
        </p:nvSpPr>
        <p:spPr>
          <a:xfrm>
            <a:off x="5134888" y="4890000"/>
            <a:ext cx="1890000" cy="28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FR" sz="1150" b="0" dirty="0">
                <a:solidFill>
                  <a:srgbClr val="333333"/>
                </a:solidFill>
                <a:latin typeface="Poppins"/>
              </a:rPr>
              <a:t>Batterie à plat ! Mes alarmes sonnent, j'ai besoin de me reposer pour recharger mon énergie.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6647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800" b="1" dirty="0">
                <a:solidFill>
                  <a:srgbClr val="8B1A2B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Mes équipements de Super-Héros !</a:t>
            </a:r>
            <a:endParaRPr lang="fr-FR" sz="2800" dirty="0"/>
          </a:p>
        </p:txBody>
      </p:sp>
      <p:sp>
        <p:nvSpPr>
          <p:cNvPr id="99" name="Footer"/>
          <p:cNvSpPr/>
          <p:nvPr/>
        </p:nvSpPr>
        <p:spPr>
          <a:xfrm>
            <a:off x="500000" y="10300000"/>
            <a:ext cx="656285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i="1">
                <a:solidFill>
                  <a:srgbClr val="666666"/>
                </a:solidFill>
                <a:latin typeface="Poppins" pitchFamily="34" charset="0"/>
                <a:ea typeface="Calibri" pitchFamily="34" charset="0"/>
                <a:cs typeface="Calibri" pitchFamily="34" charset="0"/>
              </a:rPr>
              <a:t>Fait par l’association Sed’Occ France 04/2026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1272B92B-21E4-464F-9F8E-4A62B1E16185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9802" t="10888" r="15836" b="19876"/>
          <a:stretch/>
        </p:blipFill>
        <p:spPr>
          <a:xfrm>
            <a:off x="6300000" y="9540000"/>
            <a:ext cx="1080000" cy="1007999"/>
          </a:xfrm>
          <a:prstGeom prst="rect">
            <a:avLst/>
          </a:prstGeom>
        </p:spPr>
      </p:pic>
      <p:sp>
        <p:nvSpPr>
          <p:cNvPr id="50" name="Text 50"/>
          <p:cNvSpPr/>
          <p:nvPr/>
        </p:nvSpPr>
        <p:spPr>
          <a:xfrm>
            <a:off x="457200" y="1080000"/>
            <a:ext cx="6647688" cy="7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FR" sz="2000" b="0" dirty="0">
                <a:solidFill>
                  <a:srgbClr val="333333"/>
                </a:solidFill>
                <a:latin typeface="Poppins"/>
              </a:rPr>
              <a:t>Pour aider notre colle spéciale, nous avons des supers outils. Ce sont des aides précieuses pour notre corps !</a:t>
            </a:r>
          </a:p>
        </p:txBody>
      </p:sp>
      <p:pic>
        <p:nvPicPr>
          <p:cNvPr id="71" name="Equip 7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2400000"/>
            <a:ext cx="1050000" cy="1050000"/>
          </a:xfrm>
          <a:prstGeom prst="ellipse">
            <a:avLst/>
          </a:prstGeom>
          <a:ln w="19050">
            <a:solidFill>
              <a:srgbClr val="8B1A2B">
                <a:alpha val="30000"/>
              </a:srgbClr>
            </a:solidFill>
          </a:ln>
          <a:effectLst>
            <a:outerShdw blurRad="50000" dist="20000" dir="5400000" algn="t" rotWithShape="0">
              <a:srgbClr val="8B1A2B">
                <a:alpha val="20000"/>
              </a:srgbClr>
            </a:outerShdw>
          </a:effectLst>
        </p:spPr>
      </p:pic>
      <p:sp>
        <p:nvSpPr>
          <p:cNvPr id="72" name="Text 72"/>
          <p:cNvSpPr/>
          <p:nvPr/>
        </p:nvSpPr>
        <p:spPr>
          <a:xfrm>
            <a:off x="1787200" y="2050000"/>
            <a:ext cx="5317688" cy="17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FR" sz="1900" b="1" dirty="0">
                <a:solidFill>
                  <a:srgbClr val="8B1A2B"/>
                </a:solidFill>
                <a:latin typeface="Poppins"/>
              </a:rPr>
              <a:t>Les Boucliers Magiques </a:t>
            </a:r>
            <a:r>
              <a:rPr lang="fr-FR" sz="1900" b="0" dirty="0">
                <a:solidFill>
                  <a:srgbClr val="8B1A2B"/>
                </a:solidFill>
                <a:latin typeface="Poppins"/>
              </a:rPr>
              <a:t>(les attelles)</a:t>
            </a:r>
          </a:p>
        </p:txBody>
      </p:sp>
      <p:sp>
        <p:nvSpPr>
          <p:cNvPr id="73" name="Text 73"/>
          <p:cNvSpPr/>
          <p:nvPr/>
        </p:nvSpPr>
        <p:spPr>
          <a:xfrm>
            <a:off x="1787200" y="2600000"/>
            <a:ext cx="5317688" cy="1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FR" sz="1500" b="0" dirty="0">
                <a:solidFill>
                  <a:srgbClr val="333333"/>
                </a:solidFill>
                <a:latin typeface="Poppins"/>
              </a:rPr>
              <a:t>Ils protègent les articulations pour qu'elles restent bien en place et ne fassent pas de bêtises.</a:t>
            </a:r>
          </a:p>
        </p:txBody>
      </p:sp>
      <p:pic>
        <p:nvPicPr>
          <p:cNvPr id="74" name="Equip 7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4370000"/>
            <a:ext cx="1050000" cy="1050000"/>
          </a:xfrm>
          <a:prstGeom prst="ellipse">
            <a:avLst/>
          </a:prstGeom>
          <a:ln w="19050">
            <a:solidFill>
              <a:srgbClr val="8B1A2B">
                <a:alpha val="30000"/>
              </a:srgbClr>
            </a:solidFill>
          </a:ln>
          <a:effectLst>
            <a:outerShdw blurRad="50000" dist="20000" dir="5400000" algn="t" rotWithShape="0">
              <a:srgbClr val="8B1A2B">
                <a:alpha val="20000"/>
              </a:srgbClr>
            </a:outerShdw>
          </a:effectLst>
        </p:spPr>
      </p:pic>
      <p:sp>
        <p:nvSpPr>
          <p:cNvPr id="75" name="Text 75"/>
          <p:cNvSpPr/>
          <p:nvPr/>
        </p:nvSpPr>
        <p:spPr>
          <a:xfrm>
            <a:off x="1787200" y="4020000"/>
            <a:ext cx="5317688" cy="17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FR" sz="1900" b="1" dirty="0">
                <a:solidFill>
                  <a:srgbClr val="8B1A2B"/>
                </a:solidFill>
                <a:latin typeface="Poppins"/>
              </a:rPr>
              <a:t>L'Armure Secrète </a:t>
            </a:r>
            <a:r>
              <a:rPr lang="fr-FR" sz="1900" b="0" dirty="0">
                <a:solidFill>
                  <a:srgbClr val="8B1A2B"/>
                </a:solidFill>
                <a:latin typeface="Poppins"/>
              </a:rPr>
              <a:t>(les vêtements de compression)</a:t>
            </a:r>
          </a:p>
        </p:txBody>
      </p:sp>
      <p:sp>
        <p:nvSpPr>
          <p:cNvPr id="76" name="Text 76"/>
          <p:cNvSpPr/>
          <p:nvPr/>
        </p:nvSpPr>
        <p:spPr>
          <a:xfrm>
            <a:off x="1787200" y="4570000"/>
            <a:ext cx="5317688" cy="1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FR" sz="1500" b="0" dirty="0">
                <a:solidFill>
                  <a:srgbClr val="333333"/>
                </a:solidFill>
                <a:latin typeface="Poppins"/>
              </a:rPr>
              <a:t>Elle serre un petit peu, comme un gros câlin, pour aider le corps à se tenir bien droit et à moins se fatiguer.</a:t>
            </a:r>
          </a:p>
        </p:txBody>
      </p:sp>
      <p:pic>
        <p:nvPicPr>
          <p:cNvPr id="77" name="Equip 7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6340000"/>
            <a:ext cx="1050000" cy="1050000"/>
          </a:xfrm>
          <a:prstGeom prst="ellipse">
            <a:avLst/>
          </a:prstGeom>
          <a:ln w="19050">
            <a:solidFill>
              <a:srgbClr val="8B1A2B">
                <a:alpha val="30000"/>
              </a:srgbClr>
            </a:solidFill>
          </a:ln>
          <a:effectLst>
            <a:outerShdw blurRad="50000" dist="20000" dir="5400000" algn="t" rotWithShape="0">
              <a:srgbClr val="8B1A2B">
                <a:alpha val="20000"/>
              </a:srgbClr>
            </a:outerShdw>
          </a:effectLst>
        </p:spPr>
      </p:pic>
      <p:sp>
        <p:nvSpPr>
          <p:cNvPr id="78" name="Text 78"/>
          <p:cNvSpPr/>
          <p:nvPr/>
        </p:nvSpPr>
        <p:spPr>
          <a:xfrm>
            <a:off x="1787200" y="5990000"/>
            <a:ext cx="5317688" cy="17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FR" sz="1900" b="1" dirty="0">
                <a:solidFill>
                  <a:srgbClr val="8B1A2B"/>
                </a:solidFill>
                <a:latin typeface="Poppins"/>
              </a:rPr>
              <a:t>Les Super-Propulseurs </a:t>
            </a:r>
            <a:r>
              <a:rPr lang="fr-FR" sz="1900" b="0" dirty="0">
                <a:solidFill>
                  <a:srgbClr val="8B1A2B"/>
                </a:solidFill>
                <a:latin typeface="Poppins"/>
              </a:rPr>
              <a:t>(les béquilles ou le fauteuil)</a:t>
            </a:r>
          </a:p>
        </p:txBody>
      </p:sp>
      <p:sp>
        <p:nvSpPr>
          <p:cNvPr id="79" name="Text 79"/>
          <p:cNvSpPr/>
          <p:nvPr/>
        </p:nvSpPr>
        <p:spPr>
          <a:xfrm>
            <a:off x="1787200" y="6540000"/>
            <a:ext cx="5317688" cy="1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FR" sz="1500" b="0" dirty="0">
                <a:solidFill>
                  <a:srgbClr val="333333"/>
                </a:solidFill>
                <a:latin typeface="Poppins"/>
              </a:rPr>
              <a:t>Quand les jambes n'ont plus de batterie, ils nous aident à avancer et à nous reposer en même temps !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6647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800" b="1" dirty="0">
                <a:solidFill>
                  <a:srgbClr val="8B1A2B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Le Pacte des Supers Copains !</a:t>
            </a:r>
            <a:endParaRPr lang="fr-FR" sz="2800" dirty="0"/>
          </a:p>
        </p:txBody>
      </p:sp>
      <p:sp>
        <p:nvSpPr>
          <p:cNvPr id="99" name="Footer"/>
          <p:cNvSpPr/>
          <p:nvPr/>
        </p:nvSpPr>
        <p:spPr>
          <a:xfrm>
            <a:off x="500000" y="10300000"/>
            <a:ext cx="656285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i="1">
                <a:solidFill>
                  <a:srgbClr val="666666"/>
                </a:solidFill>
                <a:latin typeface="Poppins" pitchFamily="34" charset="0"/>
                <a:ea typeface="Calibri" pitchFamily="34" charset="0"/>
                <a:cs typeface="Calibri" pitchFamily="34" charset="0"/>
              </a:rPr>
              <a:t>Fait par l’association Sed’Occ France 04/2026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1272B92B-21E4-464F-9F8E-4A62B1E16185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9802" t="10888" r="15836" b="19876"/>
          <a:stretch/>
        </p:blipFill>
        <p:spPr>
          <a:xfrm>
            <a:off x="6300000" y="9540000"/>
            <a:ext cx="1080000" cy="1007999"/>
          </a:xfrm>
          <a:prstGeom prst="rect">
            <a:avLst/>
          </a:prstGeom>
        </p:spPr>
      </p:pic>
      <p:sp>
        <p:nvSpPr>
          <p:cNvPr id="50" name="Text 50"/>
          <p:cNvSpPr/>
          <p:nvPr/>
        </p:nvSpPr>
        <p:spPr>
          <a:xfrm>
            <a:off x="457200" y="1080000"/>
            <a:ext cx="6647688" cy="1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FR" sz="1800" b="0" dirty="0">
                <a:solidFill>
                  <a:srgbClr val="333333"/>
                </a:solidFill>
                <a:latin typeface="Poppins"/>
              </a:rPr>
              <a:t>Ton copain avec le SED a une colle spéciale qui le rend plus fragile. Ce n'est pas de sa faute, et il a besoin de ta gentillesse ! Pas besoin de se pousser pour bien rigoler !</a:t>
            </a:r>
          </a:p>
        </p:txBody>
      </p:sp>
      <p:sp>
        <p:nvSpPr>
          <p:cNvPr id="51" name="DiplomaBox"/>
          <p:cNvSpPr/>
          <p:nvPr/>
        </p:nvSpPr>
        <p:spPr>
          <a:xfrm>
            <a:off x="650000" y="2550000"/>
            <a:ext cx="6262850" cy="7250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34925" cmpd="dbl">
            <a:solidFill>
              <a:srgbClr val="8B1A2B"/>
            </a:solidFill>
          </a:ln>
        </p:spPr>
        <p:txBody>
          <a:bodyPr/>
          <a:lstStyle/>
          <a:p>
            <a:endParaRPr lang="fr-FR"/>
          </a:p>
        </p:txBody>
      </p:sp>
      <p:pic>
        <p:nvPicPr>
          <p:cNvPr id="52" name="Badg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1425" y="2850000"/>
            <a:ext cx="900000" cy="900000"/>
          </a:xfrm>
          <a:prstGeom prst="rect">
            <a:avLst/>
          </a:prstGeom>
        </p:spPr>
      </p:pic>
      <p:sp>
        <p:nvSpPr>
          <p:cNvPr id="53" name="Text 53"/>
          <p:cNvSpPr/>
          <p:nvPr/>
        </p:nvSpPr>
        <p:spPr>
          <a:xfrm>
            <a:off x="950000" y="3970000"/>
            <a:ext cx="566285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FR" sz="1800" b="1" dirty="0">
                <a:solidFill>
                  <a:srgbClr val="8B1A2B"/>
                </a:solidFill>
                <a:latin typeface="Poppins"/>
              </a:rPr>
              <a:t>En signant ce diplôme de Super Copain, je m'engage à :</a:t>
            </a:r>
          </a:p>
        </p:txBody>
      </p:sp>
      <p:sp>
        <p:nvSpPr>
          <p:cNvPr id="54" name="Bullets 54"/>
          <p:cNvSpPr/>
          <p:nvPr/>
        </p:nvSpPr>
        <p:spPr>
          <a:xfrm>
            <a:off x="1200000" y="4570000"/>
            <a:ext cx="5162850" cy="3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Font typeface="Arial"/>
              <a:buChar char="•"/>
            </a:pPr>
            <a:r>
              <a:rPr lang="fr-FR" sz="1700" dirty="0">
                <a:solidFill>
                  <a:srgbClr val="333333"/>
                </a:solidFill>
                <a:latin typeface="Poppins"/>
              </a:rPr>
              <a:t>Écouter mon copain s'il me dit que sa batterie est à plat.</a:t>
            </a:r>
          </a:p>
          <a:p>
            <a:pPr marL="342900" indent="-342900">
              <a:buFont typeface="Arial"/>
              <a:buChar char="•"/>
            </a:pPr>
            <a:r>
              <a:rPr lang="fr-FR" sz="1700" dirty="0">
                <a:solidFill>
                  <a:srgbClr val="333333"/>
                </a:solidFill>
                <a:latin typeface="Poppins"/>
              </a:rPr>
              <a:t>Choisir des jeux sans bousculade ensemble avec lui (comme la marelle, les jeux de société, inventer des histoires...).</a:t>
            </a:r>
          </a:p>
          <a:p>
            <a:pPr marL="342900" indent="-342900">
              <a:buFont typeface="Arial"/>
              <a:buChar char="•"/>
            </a:pPr>
            <a:r>
              <a:rPr lang="fr-FR" sz="1700" dirty="0">
                <a:solidFill>
                  <a:srgbClr val="333333"/>
                </a:solidFill>
                <a:latin typeface="Poppins"/>
              </a:rPr>
              <a:t>Me rappeler que même si sa colle est différente, ensemble, on est plus forts !</a:t>
            </a:r>
          </a:p>
        </p:txBody>
      </p:sp>
      <p:sp>
        <p:nvSpPr>
          <p:cNvPr id="55" name="Text 55"/>
          <p:cNvSpPr/>
          <p:nvPr/>
        </p:nvSpPr>
        <p:spPr>
          <a:xfrm>
            <a:off x="950000" y="8700000"/>
            <a:ext cx="5662850" cy="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FR" sz="1700" b="1" dirty="0">
                <a:solidFill>
                  <a:srgbClr val="8B1A2B"/>
                </a:solidFill>
                <a:latin typeface="Poppins"/>
              </a:rPr>
              <a:t>Signature du super copain : _________________________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66476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2800" b="1" dirty="0">
                <a:solidFill>
                  <a:srgbClr val="8B1A2B"/>
                </a:solidFill>
                <a:latin typeface="Poppins" pitchFamily="34" charset="0"/>
                <a:ea typeface="Calibri" pitchFamily="34" charset="-122"/>
                <a:cs typeface="Calibri" pitchFamily="34" charset="-120"/>
              </a:rPr>
              <a:t>À toi de créer ton propre Super-Héros !</a:t>
            </a:r>
            <a:endParaRPr lang="fr-FR" sz="2800" dirty="0"/>
          </a:p>
        </p:txBody>
      </p:sp>
      <p:sp>
        <p:nvSpPr>
          <p:cNvPr id="99" name="Footer"/>
          <p:cNvSpPr/>
          <p:nvPr/>
        </p:nvSpPr>
        <p:spPr>
          <a:xfrm>
            <a:off x="500000" y="10300000"/>
            <a:ext cx="656285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FR" sz="1000" i="1">
                <a:solidFill>
                  <a:srgbClr val="666666"/>
                </a:solidFill>
                <a:latin typeface="Poppins" pitchFamily="34" charset="0"/>
                <a:ea typeface="Calibri" pitchFamily="34" charset="0"/>
                <a:cs typeface="Calibri" pitchFamily="34" charset="0"/>
              </a:rPr>
              <a:t>Fait par l’association Sed’Occ France 04/2026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1272B92B-21E4-464F-9F8E-4A62B1E16185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9802" t="10888" r="15836" b="19876"/>
          <a:stretch/>
        </p:blipFill>
        <p:spPr>
          <a:xfrm>
            <a:off x="6300000" y="9540000"/>
            <a:ext cx="1080000" cy="1007999"/>
          </a:xfrm>
          <a:prstGeom prst="rect">
            <a:avLst/>
          </a:prstGeom>
        </p:spPr>
      </p:pic>
      <p:sp>
        <p:nvSpPr>
          <p:cNvPr id="50" name="Text 50"/>
          <p:cNvSpPr/>
          <p:nvPr/>
        </p:nvSpPr>
        <p:spPr>
          <a:xfrm>
            <a:off x="457200" y="1080000"/>
            <a:ext cx="6647688" cy="16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FR" sz="1700" b="0" dirty="0">
                <a:solidFill>
                  <a:srgbClr val="333333"/>
                </a:solidFill>
                <a:latin typeface="Poppins"/>
              </a:rPr>
              <a:t>Tu as découvert le secret de la colle magique et tu as appris à écouter ta grande batterie. Tu sais quoi ? Gérer tout ça tous les jours fait de toi un vrai super-héros !</a:t>
            </a:r>
          </a:p>
        </p:txBody>
      </p:sp>
      <p:sp>
        <p:nvSpPr>
          <p:cNvPr id="51" name="Text 51"/>
          <p:cNvSpPr/>
          <p:nvPr/>
        </p:nvSpPr>
        <p:spPr>
          <a:xfrm>
            <a:off x="457200" y="2750000"/>
            <a:ext cx="6647688" cy="11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FR" sz="1600" b="0" dirty="0">
                <a:solidFill>
                  <a:srgbClr val="333333"/>
                </a:solidFill>
                <a:latin typeface="Poppins"/>
              </a:rPr>
              <a:t>À quoi ressemble ton costume ? Dessine-toi en super-héros ou colorie la silhouette ci-dessous. N'oublie pas de choisir tes couleurs préférées et de rajouter tes supers outils pour t'aider !</a:t>
            </a:r>
          </a:p>
        </p:txBody>
      </p:sp>
      <p:sp>
        <p:nvSpPr>
          <p:cNvPr id="60" name="DrawBox"/>
          <p:cNvSpPr/>
          <p:nvPr/>
        </p:nvSpPr>
        <p:spPr>
          <a:xfrm>
            <a:off x="1781425" y="4050000"/>
            <a:ext cx="4000000" cy="5450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E8963D"/>
            </a:solidFill>
            <a:prstDash val="dash"/>
          </a:ln>
        </p:spPr>
        <p:txBody>
          <a:bodyPr/>
          <a:lstStyle/>
          <a:p>
            <a:endParaRPr lang="fr-FR"/>
          </a:p>
        </p:txBody>
      </p:sp>
      <p:sp>
        <p:nvSpPr>
          <p:cNvPr id="61" name="Sil61"/>
          <p:cNvSpPr/>
          <p:nvPr/>
        </p:nvSpPr>
        <p:spPr>
          <a:xfrm>
            <a:off x="2959717" y="5624940"/>
            <a:ext cx="1643256" cy="2011572"/>
          </a:xfrm>
          <a:prstGeom prst="triangle">
            <a:avLst/>
          </a:prstGeom>
          <a:noFill/>
          <a:ln w="28575">
            <a:solidFill>
              <a:srgbClr val="8B1A2B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62" name="Sil62"/>
          <p:cNvSpPr/>
          <p:nvPr/>
        </p:nvSpPr>
        <p:spPr>
          <a:xfrm>
            <a:off x="3271369" y="4619154"/>
            <a:ext cx="1019952" cy="1019952"/>
          </a:xfrm>
          <a:prstGeom prst="ellipse">
            <a:avLst/>
          </a:prstGeom>
          <a:noFill/>
          <a:ln w="28575">
            <a:solidFill>
              <a:srgbClr val="8B1A2B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63" name="Sil63"/>
          <p:cNvSpPr/>
          <p:nvPr/>
        </p:nvSpPr>
        <p:spPr>
          <a:xfrm>
            <a:off x="3356365" y="5029968"/>
            <a:ext cx="849960" cy="184158"/>
          </a:xfrm>
          <a:prstGeom prst="roundRect">
            <a:avLst>
              <a:gd name="adj" fmla="val 25000"/>
            </a:avLst>
          </a:prstGeom>
          <a:noFill/>
          <a:ln w="28575">
            <a:solidFill>
              <a:srgbClr val="8B1A2B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64" name="Sil64"/>
          <p:cNvSpPr/>
          <p:nvPr/>
        </p:nvSpPr>
        <p:spPr>
          <a:xfrm>
            <a:off x="3328033" y="5653272"/>
            <a:ext cx="906624" cy="1204110"/>
          </a:xfrm>
          <a:prstGeom prst="roundRect">
            <a:avLst>
              <a:gd name="adj" fmla="val 25000"/>
            </a:avLst>
          </a:prstGeom>
          <a:noFill/>
          <a:ln w="28575">
            <a:solidFill>
              <a:srgbClr val="8B1A2B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65" name="Sil65"/>
          <p:cNvSpPr/>
          <p:nvPr/>
        </p:nvSpPr>
        <p:spPr>
          <a:xfrm>
            <a:off x="3583021" y="5922426"/>
            <a:ext cx="396648" cy="396648"/>
          </a:xfrm>
          <a:prstGeom prst="star5">
            <a:avLst/>
          </a:prstGeom>
          <a:noFill/>
          <a:ln w="28575">
            <a:solidFill>
              <a:srgbClr val="8B1A2B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66" name="Sil66"/>
          <p:cNvSpPr/>
          <p:nvPr/>
        </p:nvSpPr>
        <p:spPr>
          <a:xfrm>
            <a:off x="3682183" y="6588228"/>
            <a:ext cx="198324" cy="198324"/>
          </a:xfrm>
          <a:prstGeom prst="ellipse">
            <a:avLst/>
          </a:prstGeom>
          <a:noFill/>
          <a:ln w="28575">
            <a:solidFill>
              <a:srgbClr val="8B1A2B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67" name="Sil67"/>
          <p:cNvSpPr/>
          <p:nvPr/>
        </p:nvSpPr>
        <p:spPr>
          <a:xfrm>
            <a:off x="2903053" y="5766600"/>
            <a:ext cx="283320" cy="849960"/>
          </a:xfrm>
          <a:prstGeom prst="roundRect">
            <a:avLst>
              <a:gd name="adj" fmla="val 25000"/>
            </a:avLst>
          </a:prstGeom>
          <a:noFill/>
          <a:ln w="28575">
            <a:solidFill>
              <a:srgbClr val="8B1A2B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68" name="Sil68"/>
          <p:cNvSpPr/>
          <p:nvPr/>
        </p:nvSpPr>
        <p:spPr>
          <a:xfrm>
            <a:off x="4376317" y="5766600"/>
            <a:ext cx="283320" cy="849960"/>
          </a:xfrm>
          <a:prstGeom prst="roundRect">
            <a:avLst>
              <a:gd name="adj" fmla="val 25000"/>
            </a:avLst>
          </a:prstGeom>
          <a:noFill/>
          <a:ln w="28575">
            <a:solidFill>
              <a:srgbClr val="8B1A2B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69" name="Sil69"/>
          <p:cNvSpPr/>
          <p:nvPr/>
        </p:nvSpPr>
        <p:spPr>
          <a:xfrm>
            <a:off x="2888887" y="6503232"/>
            <a:ext cx="311652" cy="311652"/>
          </a:xfrm>
          <a:prstGeom prst="ellipse">
            <a:avLst/>
          </a:prstGeom>
          <a:noFill/>
          <a:ln w="28575">
            <a:solidFill>
              <a:srgbClr val="8B1A2B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70" name="Sil70"/>
          <p:cNvSpPr/>
          <p:nvPr/>
        </p:nvSpPr>
        <p:spPr>
          <a:xfrm>
            <a:off x="4362151" y="6503232"/>
            <a:ext cx="311652" cy="311652"/>
          </a:xfrm>
          <a:prstGeom prst="ellipse">
            <a:avLst/>
          </a:prstGeom>
          <a:noFill/>
          <a:ln w="28575">
            <a:solidFill>
              <a:srgbClr val="8B1A2B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71" name="Sil71"/>
          <p:cNvSpPr/>
          <p:nvPr/>
        </p:nvSpPr>
        <p:spPr>
          <a:xfrm>
            <a:off x="3427195" y="6857382"/>
            <a:ext cx="311652" cy="991620"/>
          </a:xfrm>
          <a:prstGeom prst="roundRect">
            <a:avLst>
              <a:gd name="adj" fmla="val 25000"/>
            </a:avLst>
          </a:prstGeom>
          <a:noFill/>
          <a:ln w="28575">
            <a:solidFill>
              <a:srgbClr val="8B1A2B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72" name="Sil72"/>
          <p:cNvSpPr/>
          <p:nvPr/>
        </p:nvSpPr>
        <p:spPr>
          <a:xfrm>
            <a:off x="3823843" y="6857382"/>
            <a:ext cx="311652" cy="991620"/>
          </a:xfrm>
          <a:prstGeom prst="roundRect">
            <a:avLst>
              <a:gd name="adj" fmla="val 25000"/>
            </a:avLst>
          </a:prstGeom>
          <a:noFill/>
          <a:ln w="28575">
            <a:solidFill>
              <a:srgbClr val="8B1A2B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73" name="Sil73"/>
          <p:cNvSpPr/>
          <p:nvPr/>
        </p:nvSpPr>
        <p:spPr>
          <a:xfrm>
            <a:off x="3356365" y="7820670"/>
            <a:ext cx="453312" cy="254988"/>
          </a:xfrm>
          <a:prstGeom prst="roundRect">
            <a:avLst>
              <a:gd name="adj" fmla="val 25000"/>
            </a:avLst>
          </a:prstGeom>
          <a:noFill/>
          <a:ln w="28575">
            <a:solidFill>
              <a:srgbClr val="8B1A2B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74" name="Sil74"/>
          <p:cNvSpPr/>
          <p:nvPr/>
        </p:nvSpPr>
        <p:spPr>
          <a:xfrm>
            <a:off x="3753013" y="7820670"/>
            <a:ext cx="453312" cy="254988"/>
          </a:xfrm>
          <a:prstGeom prst="roundRect">
            <a:avLst>
              <a:gd name="adj" fmla="val 25000"/>
            </a:avLst>
          </a:prstGeom>
          <a:noFill/>
          <a:ln w="28575">
            <a:solidFill>
              <a:srgbClr val="8B1A2B"/>
            </a:solidFill>
          </a:ln>
        </p:spPr>
        <p:txBody>
          <a:bodyPr/>
          <a:lstStyle/>
          <a:p>
            <a:endParaRPr lang="fr-FR"/>
          </a:p>
        </p:txBody>
      </p:sp>
      <p:sp>
        <p:nvSpPr>
          <p:cNvPr id="80" name="Text 80"/>
          <p:cNvSpPr/>
          <p:nvPr/>
        </p:nvSpPr>
        <p:spPr>
          <a:xfrm>
            <a:off x="1781425" y="9600000"/>
            <a:ext cx="400000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FR" sz="1400" b="0" i="1" dirty="0">
                <a:solidFill>
                  <a:srgbClr val="999999"/>
                </a:solidFill>
                <a:latin typeface="Poppins"/>
              </a:rPr>
              <a:t>Dessine-toi ici 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86</TotalTime>
  <Words>453</Words>
  <Application>Microsoft Macintosh PowerPoint</Application>
  <PresentationFormat>Personnalisé</PresentationFormat>
  <Paragraphs>66</Paragraphs>
  <Slides>8</Slides>
  <Notes>8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2" baseType="lpstr">
      <vt:lpstr>Aptos</vt:lpstr>
      <vt:lpstr>Calibri</vt:lpstr>
      <vt:lpstr>Poppins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16.0011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therese borin</dc:creator>
  <cp:lastModifiedBy>Florence Garnero</cp:lastModifiedBy>
  <cp:revision>17</cp:revision>
  <dcterms:created xsi:type="dcterms:W3CDTF">2026-04-27T15:58:41Z</dcterms:created>
  <dcterms:modified xsi:type="dcterms:W3CDTF">2026-07-13T06:01:55Z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2026-04-27T00:00:00Z</vt:filetime>
  </property>
  <property fmtid="{D5CDD505-2E9C-101B-9397-08002B2CF9AE}" pid="3" name="CreationClient">
    <vt:lpwstr>hz-json-import</vt:lpwstr>
  </property>
  <property fmtid="{D5CDD505-2E9C-101B-9397-08002B2CF9AE}" pid="4" name="Creator">
    <vt:lpwstr>Adobe Express</vt:lpwstr>
  </property>
  <property fmtid="{D5CDD505-2E9C-101B-9397-08002B2CF9AE}" pid="5" name="LastSaved">
    <vt:filetime>2026-04-27T00:00:00Z</vt:filetime>
  </property>
  <property fmtid="{D5CDD505-2E9C-101B-9397-08002B2CF9AE}" pid="6" name="Producer">
    <vt:lpwstr>Adobe Express</vt:lpwstr>
  </property>
</Properties>
</file>