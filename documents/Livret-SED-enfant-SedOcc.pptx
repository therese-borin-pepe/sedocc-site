
<file path=[Content_Types].xml><?xml version="1.0" encoding="utf-8"?>
<Types xmlns="http://schemas.openxmlformats.org/package/2006/content-types">
  <Default Extension="png" ContentType="image/png"/>
  <Default Extension="jpe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7.png" ContentType="image/jpeg"/>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image10.jpeg" ContentType="image/jpeg"/>
  <Override PartName="/ppt/media/image12.jpeg" ContentType="image/jpeg"/>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4"/>
  </p:notesMasterIdLst>
  <p:sldIdLst>
    <p:sldId id="256" r:id="rId2"/>
    <p:sldId id="264" r:id="rId3"/>
    <p:sldId id="257" r:id="rId4"/>
    <p:sldId id="258" r:id="rId5"/>
    <p:sldId id="266" r:id="rId6"/>
    <p:sldId id="259" r:id="rId7"/>
    <p:sldId id="260" r:id="rId8"/>
    <p:sldId id="261" r:id="rId9"/>
    <p:sldId id="262" r:id="rId10"/>
    <p:sldId id="268" r:id="rId11"/>
    <p:sldId id="269" r:id="rId12"/>
    <p:sldId id="265" r:id="rId13"/>
  </p:sldIdLst>
  <p:sldSz cx="7562850" cy="10688638"/>
  <p:notesSz cx="10688638" cy="756285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78" userDrawn="1">
          <p15:clr>
            <a:srgbClr val="A4A3A4"/>
          </p15:clr>
        </p15:guide>
        <p15:guide id="2" pos="216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893"/>
    <p:restoredTop sz="95377"/>
  </p:normalViewPr>
  <p:slideViewPr>
    <p:cSldViewPr>
      <p:cViewPr>
        <p:scale>
          <a:sx n="72" d="100"/>
          <a:sy n="72" d="100"/>
        </p:scale>
        <p:origin x="1496" y="144"/>
      </p:cViewPr>
      <p:guideLst>
        <p:guide orient="horz" pos="2878"/>
        <p:guide pos="216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275013" cy="536575"/>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4279900" y="0"/>
            <a:ext cx="3275013" cy="536575"/>
          </a:xfrm>
          <a:prstGeom prst="rect">
            <a:avLst/>
          </a:prstGeom>
        </p:spPr>
        <p:txBody>
          <a:bodyPr vert="horz" lIns="91440" tIns="45720" rIns="91440" bIns="45720" rtlCol="0"/>
          <a:lstStyle>
            <a:lvl1pPr algn="r">
              <a:defRPr sz="1200"/>
            </a:lvl1pPr>
          </a:lstStyle>
          <a:p>
            <a:fld id="{A2B3F72A-3E22-47E7-995C-6D9D04600525}" type="datetimeFigureOut">
              <a:rPr lang="fr-FR" smtClean="0"/>
              <a:t>13/07/2026</a:t>
            </a:fld>
            <a:endParaRPr lang="fr-FR"/>
          </a:p>
        </p:txBody>
      </p:sp>
      <p:sp>
        <p:nvSpPr>
          <p:cNvPr id="4" name="Espace réservé de l'image des diapositives 3"/>
          <p:cNvSpPr>
            <a:spLocks noGrp="1" noRot="1" noChangeAspect="1"/>
          </p:cNvSpPr>
          <p:nvPr>
            <p:ph type="sldImg" idx="2"/>
          </p:nvPr>
        </p:nvSpPr>
        <p:spPr>
          <a:xfrm>
            <a:off x="2503488" y="1336675"/>
            <a:ext cx="2549525" cy="3608388"/>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755650" y="5146675"/>
            <a:ext cx="6045200" cy="42100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10156825"/>
            <a:ext cx="3275013" cy="53657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4279900" y="10156825"/>
            <a:ext cx="3275013" cy="536575"/>
          </a:xfrm>
          <a:prstGeom prst="rect">
            <a:avLst/>
          </a:prstGeom>
        </p:spPr>
        <p:txBody>
          <a:bodyPr vert="horz" lIns="91440" tIns="45720" rIns="91440" bIns="45720" rtlCol="0" anchor="b"/>
          <a:lstStyle>
            <a:lvl1pPr algn="r">
              <a:defRPr sz="1200"/>
            </a:lvl1pPr>
          </a:lstStyle>
          <a:p>
            <a:fld id="{9C20B9B8-979C-4154-B35D-DE0C001895F7}" type="slidenum">
              <a:rPr lang="fr-FR" smtClean="0"/>
              <a:t>‹N°›</a:t>
            </a:fld>
            <a:endParaRPr lang="fr-FR"/>
          </a:p>
        </p:txBody>
      </p:sp>
    </p:spTree>
    <p:extLst>
      <p:ext uri="{BB962C8B-B14F-4D97-AF65-F5344CB8AC3E}">
        <p14:creationId xmlns:p14="http://schemas.microsoft.com/office/powerpoint/2010/main" val="1246684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20957087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6837152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1900" y="1336675"/>
            <a:ext cx="2552700" cy="36083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67213" y="3314954"/>
            <a:ext cx="6428422" cy="2245614"/>
          </a:xfrm>
          <a:prstGeom prst="rect">
            <a:avLst/>
          </a:prstGeom>
        </p:spPr>
        <p:txBody>
          <a:bodyPr wrap="square" lIns="0" tIns="0" rIns="0" bIns="0">
            <a:spAutoFit/>
          </a:bodyPr>
          <a:lstStyle>
            <a:lvl1pPr>
              <a:defRPr sz="2600" b="1" i="0">
                <a:solidFill>
                  <a:schemeClr val="tx1"/>
                </a:solidFill>
                <a:latin typeface="Calibri"/>
                <a:cs typeface="Calibri"/>
              </a:defRPr>
            </a:lvl1pPr>
          </a:lstStyle>
          <a:p>
            <a:endParaRPr/>
          </a:p>
        </p:txBody>
      </p:sp>
      <p:sp>
        <p:nvSpPr>
          <p:cNvPr id="3" name="Holder 3"/>
          <p:cNvSpPr>
            <a:spLocks noGrp="1"/>
          </p:cNvSpPr>
          <p:nvPr>
            <p:ph type="subTitle" idx="4"/>
          </p:nvPr>
        </p:nvSpPr>
        <p:spPr>
          <a:xfrm>
            <a:off x="1134427" y="5988304"/>
            <a:ext cx="5293995" cy="2673350"/>
          </a:xfrm>
          <a:prstGeom prst="rect">
            <a:avLst/>
          </a:prstGeom>
        </p:spPr>
        <p:txBody>
          <a:bodyPr wrap="square" lIns="0" tIns="0" rIns="0" bIns="0">
            <a:spAutoFit/>
          </a:bodyPr>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cstate="print"/>
          <a:stretch>
            <a:fillRect/>
          </a:stretch>
        </p:blipFill>
        <p:spPr>
          <a:xfrm>
            <a:off x="0" y="0"/>
            <a:ext cx="7560564" cy="10692371"/>
          </a:xfrm>
          <a:prstGeom prst="rect">
            <a:avLst/>
          </a:prstGeom>
        </p:spPr>
      </p:pic>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sz="half" idx="2"/>
          </p:nvPr>
        </p:nvSpPr>
        <p:spPr>
          <a:xfrm>
            <a:off x="378142" y="2459482"/>
            <a:ext cx="3289839" cy="705764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894867" y="2459482"/>
            <a:ext cx="3289839" cy="705764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600" b="1"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7/13/26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8" cstate="print"/>
          <a:stretch>
            <a:fillRect/>
          </a:stretch>
        </p:blipFill>
        <p:spPr>
          <a:xfrm>
            <a:off x="0" y="0"/>
            <a:ext cx="5670422" cy="8019275"/>
          </a:xfrm>
          <a:prstGeom prst="rect">
            <a:avLst/>
          </a:prstGeom>
        </p:spPr>
      </p:pic>
      <p:sp>
        <p:nvSpPr>
          <p:cNvPr id="2" name="Holder 2"/>
          <p:cNvSpPr>
            <a:spLocks noGrp="1"/>
          </p:cNvSpPr>
          <p:nvPr>
            <p:ph type="title"/>
          </p:nvPr>
        </p:nvSpPr>
        <p:spPr>
          <a:xfrm>
            <a:off x="2545317" y="849581"/>
            <a:ext cx="2472214" cy="819150"/>
          </a:xfrm>
          <a:prstGeom prst="rect">
            <a:avLst/>
          </a:prstGeom>
        </p:spPr>
        <p:txBody>
          <a:bodyPr wrap="square" lIns="0" tIns="0" rIns="0" bIns="0">
            <a:spAutoFit/>
          </a:bodyPr>
          <a:lstStyle>
            <a:lvl1pPr>
              <a:defRPr sz="2600" b="1" i="0">
                <a:solidFill>
                  <a:schemeClr val="tx1"/>
                </a:solidFill>
                <a:latin typeface="Calibri"/>
                <a:cs typeface="Calibri"/>
              </a:defRPr>
            </a:lvl1pPr>
          </a:lstStyle>
          <a:p>
            <a:endParaRPr/>
          </a:p>
        </p:txBody>
      </p:sp>
      <p:sp>
        <p:nvSpPr>
          <p:cNvPr id="3" name="Holder 3"/>
          <p:cNvSpPr>
            <a:spLocks noGrp="1"/>
          </p:cNvSpPr>
          <p:nvPr>
            <p:ph type="body" idx="1"/>
          </p:nvPr>
        </p:nvSpPr>
        <p:spPr>
          <a:xfrm>
            <a:off x="518261" y="3574880"/>
            <a:ext cx="3192145" cy="2360929"/>
          </a:xfrm>
          <a:prstGeom prst="rect">
            <a:avLst/>
          </a:prstGeom>
        </p:spPr>
        <p:txBody>
          <a:bodyPr wrap="square" lIns="0" tIns="0" rIns="0" bIns="0">
            <a:spAutoFit/>
          </a:bodyPr>
          <a:lstStyle>
            <a:lvl1pPr>
              <a:defRPr sz="2000" b="0" i="0">
                <a:solidFill>
                  <a:schemeClr val="tx1"/>
                </a:solidFill>
                <a:latin typeface="Calibri"/>
                <a:cs typeface="Calibri"/>
              </a:defRPr>
            </a:lvl1pPr>
          </a:lstStyle>
          <a:p>
            <a:endParaRPr/>
          </a:p>
        </p:txBody>
      </p:sp>
      <p:sp>
        <p:nvSpPr>
          <p:cNvPr id="4" name="Holder 4"/>
          <p:cNvSpPr>
            <a:spLocks noGrp="1"/>
          </p:cNvSpPr>
          <p:nvPr>
            <p:ph type="ftr" sz="quarter" idx="5"/>
          </p:nvPr>
        </p:nvSpPr>
        <p:spPr>
          <a:xfrm>
            <a:off x="2571369" y="9944862"/>
            <a:ext cx="2420112" cy="53467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78142" y="9944862"/>
            <a:ext cx="1739455" cy="53467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7/13/26</a:t>
            </a:fld>
            <a:endParaRPr lang="en-US"/>
          </a:p>
        </p:txBody>
      </p:sp>
      <p:sp>
        <p:nvSpPr>
          <p:cNvPr id="6" name="Holder 6"/>
          <p:cNvSpPr>
            <a:spLocks noGrp="1"/>
          </p:cNvSpPr>
          <p:nvPr>
            <p:ph type="sldNum" sz="quarter" idx="7"/>
          </p:nvPr>
        </p:nvSpPr>
        <p:spPr>
          <a:xfrm>
            <a:off x="5445252" y="9944862"/>
            <a:ext cx="1739455" cy="53467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61" r:id="rId2"/>
    <p:sldLayoutId id="2147483662" r:id="rId3"/>
    <p:sldLayoutId id="2147483663" r:id="rId4"/>
    <p:sldLayoutId id="2147483664" r:id="rId5"/>
    <p:sldLayoutId id="2147483665"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4.jp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jpg"/><Relationship Id="rId5" Type="http://schemas.openxmlformats.org/officeDocument/2006/relationships/image" Target="../media/image3.pn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jpe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9.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e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3.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jpe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3600" b="1" dirty="0">
                <a:solidFill>
                  <a:schemeClr val="accent2">
                    <a:lumMod val="75000"/>
                  </a:schemeClr>
                </a:solidFill>
                <a:latin typeface="Poppins" pitchFamily="34" charset="0"/>
                <a:ea typeface="Calibri" pitchFamily="34" charset="-122"/>
                <a:cs typeface="Calibri" pitchFamily="34" charset="-120"/>
              </a:rPr>
              <a:t>Le Livret Sed'Occ France</a:t>
            </a:r>
            <a:endParaRPr lang="fr-FR" sz="3600" dirty="0">
              <a:solidFill>
                <a:schemeClr val="accent2">
                  <a:lumMod val="75000"/>
                </a:schemeClr>
              </a:solidFill>
            </a:endParaRPr>
          </a:p>
        </p:txBody>
      </p:sp>
      <p:sp>
        <p:nvSpPr>
          <p:cNvPr id="3" name="Text 1"/>
          <p:cNvSpPr>
            <a:spLocks/>
          </p:cNvSpPr>
          <p:nvPr/>
        </p:nvSpPr>
        <p:spPr>
          <a:xfrm>
            <a:off x="457200" y="1005840"/>
            <a:ext cx="6647688" cy="457200"/>
          </a:xfrm>
          <a:prstGeom prst="rect">
            <a:avLst/>
          </a:prstGeom>
          <a:noFill/>
          <a:ln/>
        </p:spPr>
        <p:txBody>
          <a:bodyPr wrap="square" lIns="0" tIns="0" rIns="0" bIns="0" rtlCol="0" anchor="ctr"/>
          <a:lstStyle/>
          <a:p>
            <a:pPr marL="0" indent="0" algn="ctr">
              <a:buNone/>
            </a:pPr>
            <a:r>
              <a:rPr lang="fr-FR" sz="2400" b="1">
                <a:solidFill>
                  <a:schemeClr val="accent2">
                    <a:lumMod val="75000"/>
                  </a:schemeClr>
                </a:solidFill>
                <a:latin typeface="Poppins" pitchFamily="34" charset="0"/>
                <a:ea typeface="Calibri" pitchFamily="34" charset="-122"/>
                <a:cs typeface="Calibri" pitchFamily="34" charset="-120"/>
              </a:rPr>
              <a:t>Pour les enfants</a:t>
            </a:r>
            <a:endParaRPr lang="fr-FR" sz="2400">
              <a:solidFill>
                <a:schemeClr val="accent2">
                  <a:lumMod val="75000"/>
                </a:schemeClr>
              </a:solidFill>
            </a:endParaRPr>
          </a:p>
        </p:txBody>
      </p:sp>
      <p:sp>
        <p:nvSpPr>
          <p:cNvPr id="5" name="Text 3"/>
          <p:cNvSpPr>
            <a:spLocks/>
          </p:cNvSpPr>
          <p:nvPr/>
        </p:nvSpPr>
        <p:spPr>
          <a:xfrm>
            <a:off x="457200" y="2103120"/>
            <a:ext cx="6647688" cy="1645920"/>
          </a:xfrm>
          <a:prstGeom prst="rect">
            <a:avLst/>
          </a:prstGeom>
          <a:noFill/>
          <a:ln/>
        </p:spPr>
        <p:txBody>
          <a:bodyPr wrap="square" lIns="0" tIns="0" rIns="0" bIns="0" rtlCol="0" anchor="ctr"/>
          <a:lstStyle/>
          <a:p>
            <a:pPr marL="0" indent="0" algn="ctr">
              <a:buNone/>
            </a:pPr>
            <a:r>
              <a:rPr lang="fr-FR" sz="3600" dirty="0">
                <a:solidFill>
                  <a:srgbClr val="8B1A2B"/>
                </a:solidFill>
                <a:latin typeface="Poppins"/>
              </a:rPr>
              <a:t>Le mystère de la colle du corps</a:t>
            </a:r>
            <a:endParaRPr lang="fr-FR" sz="3200" dirty="0"/>
          </a:p>
          <a:p>
            <a:pPr algn="ctr"/>
            <a:endParaRPr lang="fr-FR" sz="1600" dirty="0"/>
          </a:p>
          <a:p>
            <a:pPr algn="ctr"/>
            <a:r>
              <a:rPr lang="fr-FR" sz="2400" dirty="0">
                <a:solidFill>
                  <a:srgbClr val="333333"/>
                </a:solidFill>
                <a:latin typeface="Poppins"/>
              </a:rPr>
              <a:t>Comprendre le syndrome d'Ehlers-Danlos</a:t>
            </a:r>
          </a:p>
          <a:p>
            <a:pPr algn="ctr">
              <a:spcBef>
                <a:spcPts val="1200"/>
              </a:spcBef>
            </a:pPr>
            <a:r>
              <a:rPr sz="2200" b="0">
                <a:solidFill>
                  <a:srgbClr val="8B1A2B"/>
                </a:solidFill>
                <a:latin typeface="Poppins"/>
              </a:rPr>
              <a:t>Viens découvrir avec moi le secret de la colle magique !</a:t>
            </a:r>
          </a:p>
        </p:txBody>
      </p:sp>
      <p:pic>
        <p:nvPicPr>
          <p:cNvPr id="9" name="Image 2" descr="unpacked/ppt/media/image_E673173E.jpg"/>
          <p:cNvPicPr>
            <a:picLocks noChangeAspect="1"/>
          </p:cNvPicPr>
          <p:nvPr/>
        </p:nvPicPr>
        <p:blipFill>
          <a:blip r:embed="rId4"/>
          <a:stretch>
            <a:fillRect/>
          </a:stretch>
        </p:blipFill>
        <p:spPr>
          <a:xfrm>
            <a:off x="1804555" y="4660000"/>
            <a:ext cx="4500000" cy="4500000"/>
          </a:xfrm>
          <a:prstGeom prst="roundRect">
            <a:avLst>
              <a:gd name="adj" fmla="val 3000"/>
            </a:avLst>
          </a:prstGeom>
          <a:effectLst>
            <a:outerShdw blurRad="76200" dist="38100" dir="5400000" algn="t" rotWithShape="0">
              <a:srgbClr val="8B1A2B">
                <a:alpha val="22000"/>
              </a:srgbClr>
            </a:outerShdw>
          </a:effectLst>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1" name="Image 10">
            <a:extLst>
              <a:ext uri="{FF2B5EF4-FFF2-40B4-BE49-F238E27FC236}">
                <a16:creationId xmlns:a16="http://schemas.microsoft.com/office/drawing/2014/main" id="{1510070F-E6BE-C44E-8EB5-ACEAF57316C1}"/>
              </a:ext>
            </a:extLst>
          </p:cNvPr>
          <p:cNvPicPr>
            <a:picLocks noChangeAspect="1"/>
          </p:cNvPicPr>
          <p:nvPr/>
        </p:nvPicPr>
        <p:blipFill rotWithShape="1">
          <a:blip r:embed="rId5"/>
          <a:srcRect l="9802" t="10888" r="15836" b="19876"/>
          <a:stretch/>
        </p:blipFill>
        <p:spPr>
          <a:xfrm>
            <a:off x="6300000" y="9540000"/>
            <a:ext cx="1080000" cy="100799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1" name="Image 10">
            <a:extLst>
              <a:ext uri="{FF2B5EF4-FFF2-40B4-BE49-F238E27FC236}">
                <a16:creationId xmlns:a16="http://schemas.microsoft.com/office/drawing/2014/main" id="{1510070F-E6BE-C44E-8EB5-ACEAF57316C1}"/>
              </a:ext>
            </a:extLst>
          </p:cNvPr>
          <p:cNvPicPr>
            <a:picLocks noChangeAspect="1"/>
          </p:cNvPicPr>
          <p:nvPr/>
        </p:nvPicPr>
        <p:blipFill rotWithShape="1">
          <a:blip r:embed="rId4"/>
          <a:srcRect l="9802" t="10888" r="15836" b="19876"/>
          <a:stretch/>
        </p:blipFill>
        <p:spPr>
          <a:xfrm>
            <a:off x="6300000" y="9540000"/>
            <a:ext cx="1080000" cy="1007999"/>
          </a:xfrm>
          <a:prstGeom prst="rect">
            <a:avLst/>
          </a:prstGeom>
        </p:spPr>
      </p:pic>
      <p:sp>
        <p:nvSpPr>
          <p:cNvPr id="4" name="Rectangle 3">
            <a:extLst>
              <a:ext uri="{FF2B5EF4-FFF2-40B4-BE49-F238E27FC236}">
                <a16:creationId xmlns:a16="http://schemas.microsoft.com/office/drawing/2014/main" id="{827FF1EE-10F5-5446-9822-C9D4DD13548A}"/>
              </a:ext>
            </a:extLst>
          </p:cNvPr>
          <p:cNvSpPr/>
          <p:nvPr/>
        </p:nvSpPr>
        <p:spPr>
          <a:xfrm>
            <a:off x="468000" y="360000"/>
            <a:ext cx="6624000" cy="900000"/>
          </a:xfrm>
          <a:prstGeom prst="rect">
            <a:avLst/>
          </a:prstGeom>
        </p:spPr>
        <p:txBody>
          <a:bodyPr wrap="square">
            <a:spAutoFit/>
          </a:bodyPr>
          <a:lstStyle/>
          <a:p>
            <a:pPr algn="ctr"/>
            <a:r>
              <a:rPr lang="fr-FR" sz="2800" b="1" dirty="0">
                <a:solidFill>
                  <a:srgbClr val="8B1A2B"/>
                </a:solidFill>
                <a:latin typeface="Poppins"/>
              </a:rPr>
              <a:t>Notre corps, une merveilleuse maison !</a:t>
            </a:r>
          </a:p>
        </p:txBody>
      </p:sp>
      <p:pic>
        <p:nvPicPr>
          <p:cNvPr id="10" name="Picture 2" descr="image.jpg">
            <a:extLst>
              <a:ext uri="{FF2B5EF4-FFF2-40B4-BE49-F238E27FC236}">
                <a16:creationId xmlns:a16="http://schemas.microsoft.com/office/drawing/2014/main" id="{5C9D2762-DF5F-5344-A758-3103BDA24A81}"/>
              </a:ext>
            </a:extLst>
          </p:cNvPr>
          <p:cNvPicPr>
            <a:picLocks noChangeAspect="1"/>
          </p:cNvPicPr>
          <p:nvPr/>
        </p:nvPicPr>
        <p:blipFill>
          <a:blip r:embed="rId5"/>
          <a:stretch>
            <a:fillRect/>
          </a:stretch>
        </p:blipFill>
        <p:spPr>
          <a:xfrm>
            <a:off x="954670" y="6023282"/>
            <a:ext cx="3839162" cy="2052809"/>
          </a:xfrm>
          <a:prstGeom prst="roundRect">
            <a:avLst>
              <a:gd name="adj" fmla="val 3000"/>
            </a:avLst>
          </a:prstGeom>
          <a:effectLst>
            <a:outerShdw blurRad="76200" dist="38100" dir="5400000" algn="t" rotWithShape="0">
              <a:srgbClr val="8B1A2B">
                <a:alpha val="22000"/>
              </a:srgbClr>
            </a:outerShdw>
          </a:effectLst>
        </p:spPr>
      </p:pic>
      <p:sp>
        <p:nvSpPr>
          <p:cNvPr id="6" name="Rectangle 5">
            <a:extLst>
              <a:ext uri="{FF2B5EF4-FFF2-40B4-BE49-F238E27FC236}">
                <a16:creationId xmlns:a16="http://schemas.microsoft.com/office/drawing/2014/main" id="{AAF9DC8A-7D6E-0C40-975A-3926EE7E51E9}"/>
              </a:ext>
            </a:extLst>
          </p:cNvPr>
          <p:cNvSpPr/>
          <p:nvPr/>
        </p:nvSpPr>
        <p:spPr>
          <a:xfrm>
            <a:off x="468000" y="8584940"/>
            <a:ext cx="6624000" cy="900000"/>
          </a:xfrm>
          <a:prstGeom prst="rect">
            <a:avLst/>
          </a:prstGeom>
        </p:spPr>
        <p:txBody>
          <a:bodyPr wrap="square">
            <a:spAutoFit/>
          </a:bodyPr>
          <a:lstStyle/>
          <a:p>
            <a:pPr algn="ctr"/>
            <a:r>
              <a:rPr lang="fr-FR" sz="2400" dirty="0">
                <a:solidFill>
                  <a:srgbClr val="333333"/>
                </a:solidFill>
                <a:latin typeface="Poppins"/>
              </a:rPr>
              <a:t>Elle aide à tenir nos os, notre peau</a:t>
            </a:r>
          </a:p>
          <a:p>
            <a:pPr algn="ctr"/>
            <a:r>
              <a:rPr lang="fr-FR" sz="2400" dirty="0">
                <a:solidFill>
                  <a:srgbClr val="333333"/>
                </a:solidFill>
                <a:latin typeface="Poppins"/>
              </a:rPr>
              <a:t>et tout le reste.</a:t>
            </a:r>
            <a:endParaRPr lang="fr-FR" sz="2400" dirty="0"/>
          </a:p>
        </p:txBody>
      </p:sp>
      <p:sp>
        <p:nvSpPr>
          <p:cNvPr id="7" name="Rectangle 6">
            <a:extLst>
              <a:ext uri="{FF2B5EF4-FFF2-40B4-BE49-F238E27FC236}">
                <a16:creationId xmlns:a16="http://schemas.microsoft.com/office/drawing/2014/main" id="{18BEE8E9-39E8-CC42-969C-56935A196227}"/>
              </a:ext>
            </a:extLst>
          </p:cNvPr>
          <p:cNvSpPr/>
          <p:nvPr/>
        </p:nvSpPr>
        <p:spPr>
          <a:xfrm>
            <a:off x="468000" y="4262317"/>
            <a:ext cx="6624000" cy="1200329"/>
          </a:xfrm>
          <a:prstGeom prst="rect">
            <a:avLst/>
          </a:prstGeom>
        </p:spPr>
        <p:txBody>
          <a:bodyPr wrap="square">
            <a:spAutoFit/>
          </a:bodyPr>
          <a:lstStyle/>
          <a:p>
            <a:pPr algn="ctr"/>
            <a:endParaRPr lang="fr-FR" sz="2400" dirty="0">
              <a:solidFill>
                <a:srgbClr val="333333"/>
              </a:solidFill>
              <a:latin typeface="Poppins"/>
            </a:endParaRPr>
          </a:p>
          <a:p>
            <a:pPr algn="ctr"/>
            <a:r>
              <a:rPr lang="fr-FR" sz="2400" dirty="0">
                <a:solidFill>
                  <a:srgbClr val="333333"/>
                </a:solidFill>
                <a:latin typeface="Poppins"/>
              </a:rPr>
              <a:t>Dans notre corps, il y a une super colle magique qui s'appelle </a:t>
            </a:r>
            <a:r>
              <a:rPr lang="fr-FR" sz="2400" dirty="0">
                <a:solidFill>
                  <a:schemeClr val="accent2">
                    <a:lumMod val="75000"/>
                  </a:schemeClr>
                </a:solidFill>
                <a:latin typeface="Poppins"/>
              </a:rPr>
              <a:t>le collagène</a:t>
            </a:r>
            <a:r>
              <a:rPr lang="fr-FR" sz="2400" dirty="0">
                <a:solidFill>
                  <a:srgbClr val="333333"/>
                </a:solidFill>
                <a:latin typeface="Poppins"/>
              </a:rPr>
              <a:t>.</a:t>
            </a:r>
          </a:p>
        </p:txBody>
      </p:sp>
      <p:sp>
        <p:nvSpPr>
          <p:cNvPr id="312" name="Dot 2-2"/>
          <p:cNvSpPr/>
          <p:nvPr/>
        </p:nvSpPr>
        <p:spPr>
          <a:xfrm>
            <a:off x="5058911" y="6154846"/>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11" name="Dot 2-1"/>
          <p:cNvSpPr/>
          <p:nvPr/>
        </p:nvSpPr>
        <p:spPr>
          <a:xfrm>
            <a:off x="5138111" y="630590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10" name="Dot 2-0"/>
          <p:cNvSpPr/>
          <p:nvPr/>
        </p:nvSpPr>
        <p:spPr>
          <a:xfrm>
            <a:off x="5263381" y="6470606"/>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1" name="HeroBubble 2"/>
          <p:cNvSpPr/>
          <p:nvPr/>
        </p:nvSpPr>
        <p:spPr>
          <a:xfrm>
            <a:off x="5232734" y="6780092"/>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13" name="Image 1" descr="unpacked/ppt/media/image_E673173E.jpg">
            <a:extLst>
              <a:ext uri="{FF2B5EF4-FFF2-40B4-BE49-F238E27FC236}">
                <a16:creationId xmlns:a16="http://schemas.microsoft.com/office/drawing/2014/main" id="{8DFDDAB1-CD7E-8D4B-93C9-16F9FFA77AF7}"/>
              </a:ext>
            </a:extLst>
          </p:cNvPr>
          <p:cNvPicPr>
            <a:picLocks noChangeAspect="1"/>
          </p:cNvPicPr>
          <p:nvPr/>
        </p:nvPicPr>
        <p:blipFill>
          <a:blip r:embed="rId6"/>
          <a:stretch>
            <a:fillRect/>
          </a:stretch>
        </p:blipFill>
        <p:spPr>
          <a:xfrm>
            <a:off x="5443381" y="6978092"/>
            <a:ext cx="1007999" cy="1007999"/>
          </a:xfrm>
          <a:prstGeom prst="rect">
            <a:avLst/>
          </a:prstGeom>
        </p:spPr>
      </p:pic>
      <p:pic>
        <p:nvPicPr>
          <p:cNvPr id="14" name="Image 0" descr="unpacked/ppt/media/image_A81BC803.jpg">
            <a:extLst>
              <a:ext uri="{FF2B5EF4-FFF2-40B4-BE49-F238E27FC236}">
                <a16:creationId xmlns:a16="http://schemas.microsoft.com/office/drawing/2014/main" id="{A2A54B0F-A3BF-524B-BF9C-3D15C7F0E626}"/>
              </a:ext>
            </a:extLst>
          </p:cNvPr>
          <p:cNvPicPr>
            <a:picLocks noChangeAspect="1"/>
          </p:cNvPicPr>
          <p:nvPr/>
        </p:nvPicPr>
        <p:blipFill>
          <a:blip r:embed="rId7"/>
          <a:stretch>
            <a:fillRect/>
          </a:stretch>
        </p:blipFill>
        <p:spPr>
          <a:xfrm>
            <a:off x="954670" y="1331863"/>
            <a:ext cx="5496710" cy="2936150"/>
          </a:xfrm>
          <a:prstGeom prst="roundRect">
            <a:avLst>
              <a:gd name="adj" fmla="val 3000"/>
            </a:avLst>
          </a:prstGeom>
          <a:effectLst>
            <a:outerShdw blurRad="76200" dist="38100" dir="5400000" algn="t" rotWithShape="0">
              <a:srgbClr val="8B1A2B">
                <a:alpha val="22000"/>
              </a:srgbClr>
            </a:outerShdw>
          </a:effectLst>
        </p:spPr>
      </p:pic>
    </p:spTree>
    <p:extLst>
      <p:ext uri="{BB962C8B-B14F-4D97-AF65-F5344CB8AC3E}">
        <p14:creationId xmlns:p14="http://schemas.microsoft.com/office/powerpoint/2010/main" val="21357159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Qu'est-ce que le SED ?</a:t>
            </a:r>
            <a:endParaRPr lang="fr-FR" sz="2800" dirty="0"/>
          </a:p>
        </p:txBody>
      </p:sp>
      <p:sp>
        <p:nvSpPr>
          <p:cNvPr id="4" name="Text 1"/>
          <p:cNvSpPr/>
          <p:nvPr/>
        </p:nvSpPr>
        <p:spPr>
          <a:xfrm>
            <a:off x="457200" y="6832546"/>
            <a:ext cx="6647688" cy="2563453"/>
          </a:xfrm>
          <a:prstGeom prst="rect">
            <a:avLst/>
          </a:prstGeom>
          <a:noFill/>
          <a:ln/>
        </p:spPr>
        <p:txBody>
          <a:bodyPr wrap="square" lIns="0" tIns="0" rIns="0" bIns="0" rtlCol="0" anchor="t"/>
          <a:lstStyle/>
          <a:p>
            <a:pPr marL="0" indent="0" algn="ctr">
              <a:buNone/>
            </a:pPr>
            <a:endPar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endParaRPr>
          </a:p>
          <a:p>
            <a:pPr marL="0" indent="0" algn="ctr">
              <a:buNone/>
            </a:pPr>
            <a:r>
              <a:rPr lang="fr-FR" sz="2400" b="1" dirty="0">
                <a:solidFill>
                  <a:srgbClr val="333333"/>
                </a:solidFill>
                <a:latin typeface="Poppins" pitchFamily="34" charset="0"/>
                <a:ea typeface="Calibri" pitchFamily="34" charset="-122"/>
                <a:cs typeface="Calibri" pitchFamily="34" charset="-120"/>
              </a:rPr>
              <a:t>Ce n'est pas une maladie contagieuse : c'est une différence avec laquelle on naît, et qu'on garde toute sa vie.</a:t>
            </a:r>
            <a:endParaRPr lang="fr-FR" sz="2400" dirty="0"/>
          </a:p>
          <a:p>
            <a:pPr marL="0" indent="0" algn="ctr">
              <a:buNone/>
            </a:pPr>
            <a:r>
              <a:rPr lang="fr-FR" sz="2400" b="0" dirty="0">
                <a:solidFill>
                  <a:srgbClr val="333333"/>
                </a:solidFill>
                <a:latin typeface="Poppins" pitchFamily="34" charset="0"/>
                <a:ea typeface="Calibri" pitchFamily="34" charset="-122"/>
                <a:cs typeface="Calibri" pitchFamily="34" charset="-120"/>
              </a:rPr>
              <a:t>La peau, les articulations, les muscles... plein de parties du corps ont besoin de cette colle !</a:t>
            </a:r>
            <a:endParaRPr lang="fr-FR" sz="2400" dirty="0"/>
          </a:p>
        </p:txBody>
      </p:sp>
      <p:sp>
        <p:nvSpPr>
          <p:cNvPr id="322" name="Dot 3-2"/>
          <p:cNvSpPr/>
          <p:nvPr/>
        </p:nvSpPr>
        <p:spPr>
          <a:xfrm>
            <a:off x="5032801" y="4586031"/>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21" name="Dot 3-1"/>
          <p:cNvSpPr/>
          <p:nvPr/>
        </p:nvSpPr>
        <p:spPr>
          <a:xfrm>
            <a:off x="5112001" y="4761480"/>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20" name="Dot 3-0"/>
          <p:cNvSpPr/>
          <p:nvPr/>
        </p:nvSpPr>
        <p:spPr>
          <a:xfrm>
            <a:off x="5206710" y="4950167"/>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2" name="HeroBubble 3"/>
          <p:cNvSpPr/>
          <p:nvPr/>
        </p:nvSpPr>
        <p:spPr>
          <a:xfrm>
            <a:off x="5158003" y="5181663"/>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4"/>
          <a:stretch>
            <a:fillRect/>
          </a:stretch>
        </p:blipFill>
        <p:spPr>
          <a:xfrm>
            <a:off x="5363354" y="5325662"/>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5"/>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D75A2B46-85AF-3F41-BFD8-F771AAC13A71}"/>
              </a:ext>
            </a:extLst>
          </p:cNvPr>
          <p:cNvSpPr/>
          <p:nvPr/>
        </p:nvSpPr>
        <p:spPr>
          <a:xfrm>
            <a:off x="519050" y="4782144"/>
            <a:ext cx="4333938" cy="1938992"/>
          </a:xfrm>
          <a:prstGeom prst="rect">
            <a:avLst/>
          </a:prstGeom>
        </p:spPr>
        <p:txBody>
          <a:bodyPr wrap="square">
            <a:spAutoFit/>
          </a:bodyPr>
          <a:lstStyle/>
          <a:p>
            <a:pPr algn="ctr"/>
            <a:r>
              <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rPr>
              <a:t>Pour les personnes avec le SED, la recette de cette colle est un peu différente.</a:t>
            </a:r>
          </a:p>
          <a:p>
            <a:pPr algn="ctr"/>
            <a:r>
              <a:rPr lang="fr-FR" sz="2400" dirty="0">
                <a:solidFill>
                  <a:srgbClr val="333333"/>
                </a:solidFill>
                <a:latin typeface="Poppins" panose="020F0502020204030204" pitchFamily="34" charset="0"/>
                <a:ea typeface="Calibri" panose="020F0502020204030204" pitchFamily="34" charset="0"/>
                <a:cs typeface="Calibri" panose="020F0502020204030204" pitchFamily="34" charset="0"/>
              </a:rPr>
              <a:t>Elle est moins solide, ou parfois trop élastique.</a:t>
            </a:r>
            <a:endParaRPr lang="fr-FR" sz="2400" dirty="0">
              <a:latin typeface="Calibri" panose="020F0502020204030204" pitchFamily="34" charset="0"/>
              <a:ea typeface="Calibri" panose="020F0502020204030204" pitchFamily="34" charset="0"/>
              <a:cs typeface="Calibri" panose="020F0502020204030204" pitchFamily="34" charset="0"/>
            </a:endParaRPr>
          </a:p>
        </p:txBody>
      </p:sp>
      <p:pic>
        <p:nvPicPr>
          <p:cNvPr id="13" name="Picture 3" descr="image.jpg">
            <a:extLst>
              <a:ext uri="{FF2B5EF4-FFF2-40B4-BE49-F238E27FC236}">
                <a16:creationId xmlns:a16="http://schemas.microsoft.com/office/drawing/2014/main" id="{ADA3D401-E2F8-EA42-8EC4-6D30C0D4606B}"/>
              </a:ext>
            </a:extLst>
          </p:cNvPr>
          <p:cNvPicPr>
            <a:picLocks noChangeAspect="1"/>
          </p:cNvPicPr>
          <p:nvPr/>
        </p:nvPicPr>
        <p:blipFill>
          <a:blip r:embed="rId6"/>
          <a:stretch>
            <a:fillRect/>
          </a:stretch>
        </p:blipFill>
        <p:spPr>
          <a:xfrm>
            <a:off x="966788" y="1344332"/>
            <a:ext cx="5487214" cy="3028426"/>
          </a:xfrm>
          <a:prstGeom prst="roundRect">
            <a:avLst>
              <a:gd name="adj" fmla="val 3000"/>
            </a:avLst>
          </a:prstGeom>
          <a:effectLst>
            <a:outerShdw blurRad="76200" dist="38100" dir="5400000" algn="t" rotWithShape="0">
              <a:srgbClr val="8B1A2B">
                <a:alpha val="22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68000" y="360000"/>
            <a:ext cx="6624000"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La grande batterie à plat</a:t>
            </a:r>
            <a:endParaRPr lang="fr-FR" sz="2800" dirty="0"/>
          </a:p>
        </p:txBody>
      </p:sp>
      <p:pic>
        <p:nvPicPr>
          <p:cNvPr id="3" name="Image 0" descr="unpacked/ppt/media/image_F726E008.png"/>
          <p:cNvPicPr>
            <a:picLocks noChangeAspect="1"/>
          </p:cNvPicPr>
          <p:nvPr/>
        </p:nvPicPr>
        <p:blipFill>
          <a:blip r:embed="rId4"/>
          <a:stretch>
            <a:fillRect/>
          </a:stretch>
        </p:blipFill>
        <p:spPr>
          <a:xfrm>
            <a:off x="1571625" y="1260000"/>
            <a:ext cx="4267200" cy="2520000"/>
          </a:xfrm>
          <a:prstGeom prst="roundRect">
            <a:avLst>
              <a:gd name="adj" fmla="val 3000"/>
            </a:avLst>
          </a:prstGeom>
          <a:effectLst>
            <a:outerShdw blurRad="76200" dist="38100" dir="5400000" algn="t" rotWithShape="0">
              <a:srgbClr val="8B1A2B">
                <a:alpha val="22000"/>
              </a:srgbClr>
            </a:outerShdw>
          </a:effectLst>
        </p:spPr>
      </p:pic>
      <p:pic>
        <p:nvPicPr>
          <p:cNvPr id="4" name="Image 1" descr="unpacked/ppt/media/image_23A1A80B.png"/>
          <p:cNvPicPr>
            <a:picLocks noChangeAspect="1"/>
          </p:cNvPicPr>
          <p:nvPr/>
        </p:nvPicPr>
        <p:blipFill>
          <a:blip r:embed="rId5"/>
          <a:stretch>
            <a:fillRect/>
          </a:stretch>
        </p:blipFill>
        <p:spPr>
          <a:xfrm>
            <a:off x="4140000" y="5400000"/>
            <a:ext cx="2700000" cy="3420000"/>
          </a:xfrm>
          <a:prstGeom prst="roundRect">
            <a:avLst>
              <a:gd name="adj" fmla="val 3000"/>
            </a:avLst>
          </a:prstGeom>
          <a:effectLst>
            <a:outerShdw blurRad="76200" dist="38100" dir="5400000" algn="t" rotWithShape="0">
              <a:srgbClr val="8B1A2B">
                <a:alpha val="22000"/>
              </a:srgbClr>
            </a:outerShdw>
          </a:effectLst>
        </p:spPr>
      </p:pic>
      <p:sp>
        <p:nvSpPr>
          <p:cNvPr id="5" name="Text 1"/>
          <p:cNvSpPr/>
          <p:nvPr/>
        </p:nvSpPr>
        <p:spPr>
          <a:xfrm>
            <a:off x="468000" y="6840000"/>
            <a:ext cx="3600000" cy="1980000"/>
          </a:xfrm>
          <a:prstGeom prst="rect">
            <a:avLst/>
          </a:prstGeom>
          <a:noFill/>
          <a:ln/>
        </p:spPr>
        <p:txBody>
          <a:bodyPr wrap="square" lIns="0" tIns="0" rIns="0" bIns="0" rtlCol="0" anchor="t"/>
          <a:lstStyle/>
          <a:p>
            <a:pPr marL="0" indent="0" algn="ctr">
              <a:buNone/>
            </a:pPr>
            <a:endParaRPr lang="fr-FR" sz="2400" dirty="0">
              <a:solidFill>
                <a:srgbClr val="333333"/>
              </a:solidFill>
              <a:latin typeface="Poppins" pitchFamily="34" charset="0"/>
              <a:ea typeface="Calibri" pitchFamily="34" charset="-122"/>
              <a:cs typeface="Calibri" pitchFamily="34" charset="-120"/>
            </a:endParaRPr>
          </a:p>
          <a:p>
            <a:pPr marL="0" indent="0" algn="ctr">
              <a:buNone/>
            </a:pPr>
            <a:endParaRPr lang="fr-FR" sz="2400" dirty="0">
              <a:solidFill>
                <a:srgbClr val="333333"/>
              </a:solidFill>
              <a:latin typeface="Poppins" pitchFamily="34" charset="0"/>
              <a:ea typeface="Calibri" pitchFamily="34" charset="-122"/>
              <a:cs typeface="Calibri" pitchFamily="34" charset="-120"/>
            </a:endParaRPr>
          </a:p>
          <a:p>
            <a:pPr marL="0" indent="0" algn="ctr">
              <a:buNone/>
            </a:pPr>
            <a:r>
              <a:rPr lang="fr-FR" sz="2400" dirty="0">
                <a:solidFill>
                  <a:srgbClr val="333333"/>
                </a:solidFill>
                <a:latin typeface="Poppins" pitchFamily="34" charset="0"/>
                <a:ea typeface="Calibri" pitchFamily="34" charset="-122"/>
                <a:cs typeface="Calibri" pitchFamily="34" charset="-120"/>
              </a:rPr>
              <a:t>C'est pour cela qu'on est souvent fatigué, même en ayant bien dormi.</a:t>
            </a:r>
            <a:endParaRPr lang="fr-FR" sz="2400" dirty="0"/>
          </a:p>
        </p:txBody>
      </p:sp>
      <p:sp>
        <p:nvSpPr>
          <p:cNvPr id="332" name="Dot 4-2"/>
          <p:cNvSpPr/>
          <p:nvPr/>
        </p:nvSpPr>
        <p:spPr>
          <a:xfrm>
            <a:off x="2357373" y="5388801"/>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31" name="Dot 4-1"/>
          <p:cNvSpPr/>
          <p:nvPr/>
        </p:nvSpPr>
        <p:spPr>
          <a:xfrm>
            <a:off x="2231374" y="5516001"/>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30" name="Dot 4-0"/>
          <p:cNvSpPr/>
          <p:nvPr/>
        </p:nvSpPr>
        <p:spPr>
          <a:xfrm>
            <a:off x="2070000" y="5690000"/>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3" name="HeroBubble 4"/>
          <p:cNvSpPr/>
          <p:nvPr/>
        </p:nvSpPr>
        <p:spPr>
          <a:xfrm rot="2250274">
            <a:off x="905848" y="5902580"/>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6" name="Image 2" descr="unpacked/ppt/media/image_E673173E.jpg"/>
          <p:cNvPicPr>
            <a:picLocks noChangeAspect="1"/>
          </p:cNvPicPr>
          <p:nvPr/>
        </p:nvPicPr>
        <p:blipFill>
          <a:blip r:embed="rId6"/>
          <a:stretch>
            <a:fillRect/>
          </a:stretch>
        </p:blipFill>
        <p:spPr>
          <a:xfrm>
            <a:off x="1122878" y="6120000"/>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1AAFE20-76B3-534B-9371-0C868F1360A4}"/>
              </a:ext>
            </a:extLst>
          </p:cNvPr>
          <p:cNvPicPr>
            <a:picLocks noChangeAspect="1"/>
          </p:cNvPicPr>
          <p:nvPr/>
        </p:nvPicPr>
        <p:blipFill rotWithShape="1">
          <a:blip r:embed="rId7"/>
          <a:srcRect l="9802" t="10888" r="15836" b="19876"/>
          <a:stretch/>
        </p:blipFill>
        <p:spPr>
          <a:xfrm>
            <a:off x="6300000" y="9540000"/>
            <a:ext cx="1080000" cy="1007999"/>
          </a:xfrm>
          <a:prstGeom prst="rect">
            <a:avLst/>
          </a:prstGeom>
        </p:spPr>
      </p:pic>
      <p:sp>
        <p:nvSpPr>
          <p:cNvPr id="7" name="Rectangle 6">
            <a:extLst>
              <a:ext uri="{FF2B5EF4-FFF2-40B4-BE49-F238E27FC236}">
                <a16:creationId xmlns:a16="http://schemas.microsoft.com/office/drawing/2014/main" id="{A784CDDD-5741-C048-AFC0-15F93C4CAE06}"/>
              </a:ext>
            </a:extLst>
          </p:cNvPr>
          <p:cNvSpPr/>
          <p:nvPr/>
        </p:nvSpPr>
        <p:spPr>
          <a:xfrm>
            <a:off x="438850" y="3890000"/>
            <a:ext cx="6624000" cy="1260000"/>
          </a:xfrm>
          <a:prstGeom prst="rect">
            <a:avLst/>
          </a:prstGeom>
        </p:spPr>
        <p:txBody>
          <a:bodyPr wrap="square">
            <a:spAutoFit/>
          </a:bodyPr>
          <a:lstStyle/>
          <a:p>
            <a:pPr algn="ctr"/>
            <a:r>
              <a:rPr lang="fr-FR" sz="2400" dirty="0">
                <a:solidFill>
                  <a:srgbClr val="333333"/>
                </a:solidFill>
                <a:latin typeface="Poppins" pitchFamily="34" charset="0"/>
                <a:ea typeface="Calibri" pitchFamily="34" charset="-122"/>
                <a:cs typeface="Calibri" pitchFamily="34" charset="-120"/>
              </a:rPr>
              <a:t>Le corps doit faire beaucoup plus d'efforts pour compenser la colle lâche, comme un muscle qui travaille trop.</a:t>
            </a:r>
            <a:endParaRPr lang="fr-FR" sz="2400" dirty="0"/>
          </a:p>
          <a:p>
            <a:pPr algn="ctr"/>
            <a:endParaRPr lang="fr-FR" dirty="0">
              <a:solidFill>
                <a:srgbClr val="333333"/>
              </a:solidFill>
              <a:latin typeface="Poppins" pitchFamily="34" charset="0"/>
              <a:ea typeface="Calibri" pitchFamily="34" charset="-122"/>
              <a:cs typeface="Calibri" pitchFamily="34" charset="-12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28625" y="238919"/>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Mon niveau de super-énergie !</a:t>
            </a:r>
            <a:endParaRPr lang="fr-FR" sz="2800" dirty="0"/>
          </a:p>
        </p:txBody>
      </p:sp>
      <p:sp>
        <p:nvSpPr>
          <p:cNvPr id="99" name="Footer"/>
          <p:cNvSpPr/>
          <p:nvPr/>
        </p:nvSpPr>
        <p:spPr>
          <a:xfrm>
            <a:off x="471425" y="10173159"/>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271425" y="9413159"/>
            <a:ext cx="1080000" cy="1007999"/>
          </a:xfrm>
          <a:prstGeom prst="rect">
            <a:avLst/>
          </a:prstGeom>
        </p:spPr>
      </p:pic>
      <p:sp>
        <p:nvSpPr>
          <p:cNvPr id="50" name="Text 50"/>
          <p:cNvSpPr/>
          <p:nvPr/>
        </p:nvSpPr>
        <p:spPr>
          <a:xfrm>
            <a:off x="471127" y="1307092"/>
            <a:ext cx="6647688" cy="17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Tout le monde a une grande batterie d'énergie à l'intérieur de soi, et elle ne reste pas toujours pleine ! Ça, c'est normal.</a:t>
            </a:r>
          </a:p>
          <a:p>
            <a:pPr marL="0" indent="0" algn="ctr">
              <a:buNone/>
            </a:pPr>
            <a:r>
              <a:rPr lang="fr-FR" sz="2400" b="0" dirty="0">
                <a:solidFill>
                  <a:srgbClr val="333333"/>
                </a:solidFill>
                <a:latin typeface="Poppins"/>
              </a:rPr>
              <a:t>Parfois, quand la batterie est à plat, tu as le droit de te sentir triste ou en colère. L'important, c'est d'apprendre à écouter ton corps.</a:t>
            </a:r>
          </a:p>
          <a:p>
            <a:pPr marL="0" indent="0" algn="ctr">
              <a:buNone/>
            </a:pPr>
            <a:endParaRPr lang="fr-FR" sz="2400" b="1" dirty="0">
              <a:solidFill>
                <a:srgbClr val="8B1A2B"/>
              </a:solidFill>
              <a:latin typeface="Poppins"/>
            </a:endParaRPr>
          </a:p>
          <a:p>
            <a:pPr marL="0" indent="0" algn="ctr">
              <a:buNone/>
            </a:pPr>
            <a:endParaRPr lang="fr-FR" sz="2400" b="1" dirty="0">
              <a:solidFill>
                <a:srgbClr val="8B1A2B"/>
              </a:solidFill>
              <a:latin typeface="Poppins"/>
            </a:endParaRPr>
          </a:p>
          <a:p>
            <a:pPr marL="0" indent="0" algn="ctr">
              <a:buNone/>
            </a:pPr>
            <a:r>
              <a:rPr lang="fr-FR" sz="2400" b="1" dirty="0">
                <a:solidFill>
                  <a:srgbClr val="8B1A2B"/>
                </a:solidFill>
                <a:latin typeface="Poppins"/>
              </a:rPr>
              <a:t>Montre à tes parents ou à tes copains où en est ta batterie aujourd'hui :</a:t>
            </a:r>
          </a:p>
        </p:txBody>
      </p:sp>
      <p:sp>
        <p:nvSpPr>
          <p:cNvPr id="61" name="Card 61"/>
          <p:cNvSpPr/>
          <p:nvPr/>
        </p:nvSpPr>
        <p:spPr>
          <a:xfrm>
            <a:off x="364494" y="5865386"/>
            <a:ext cx="2050000" cy="2375319"/>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62" name="BattBody 62"/>
          <p:cNvSpPr/>
          <p:nvPr/>
        </p:nvSpPr>
        <p:spPr>
          <a:xfrm>
            <a:off x="1086127" y="6114865"/>
            <a:ext cx="720000" cy="380000"/>
          </a:xfrm>
          <a:prstGeom prst="roundRect">
            <a:avLst>
              <a:gd name="adj" fmla="val 15000"/>
            </a:avLst>
          </a:prstGeom>
          <a:noFill/>
          <a:ln w="28575">
            <a:solidFill>
              <a:srgbClr val="8B1A2B"/>
            </a:solidFill>
          </a:ln>
        </p:spPr>
        <p:txBody>
          <a:bodyPr/>
          <a:lstStyle/>
          <a:p>
            <a:endParaRPr lang="fr-FR"/>
          </a:p>
        </p:txBody>
      </p:sp>
      <p:sp>
        <p:nvSpPr>
          <p:cNvPr id="63" name="BattNub 63"/>
          <p:cNvSpPr/>
          <p:nvPr/>
        </p:nvSpPr>
        <p:spPr>
          <a:xfrm>
            <a:off x="1806127" y="6244865"/>
            <a:ext cx="45000" cy="120000"/>
          </a:xfrm>
          <a:prstGeom prst="rect">
            <a:avLst/>
          </a:prstGeom>
          <a:solidFill>
            <a:srgbClr val="8B1A2B"/>
          </a:solidFill>
          <a:ln>
            <a:noFill/>
          </a:ln>
        </p:spPr>
        <p:txBody>
          <a:bodyPr/>
          <a:lstStyle/>
          <a:p>
            <a:endParaRPr lang="fr-FR"/>
          </a:p>
        </p:txBody>
      </p:sp>
      <p:sp>
        <p:nvSpPr>
          <p:cNvPr id="64" name="BattFill 64"/>
          <p:cNvSpPr/>
          <p:nvPr/>
        </p:nvSpPr>
        <p:spPr>
          <a:xfrm>
            <a:off x="1106127" y="6134865"/>
            <a:ext cx="680000" cy="340000"/>
          </a:xfrm>
          <a:prstGeom prst="roundRect">
            <a:avLst>
              <a:gd name="adj" fmla="val 15000"/>
            </a:avLst>
          </a:prstGeom>
          <a:solidFill>
            <a:srgbClr val="5CA86B"/>
          </a:solidFill>
          <a:ln>
            <a:noFill/>
          </a:ln>
        </p:spPr>
        <p:txBody>
          <a:bodyPr/>
          <a:lstStyle/>
          <a:p>
            <a:endParaRPr lang="fr-FR"/>
          </a:p>
        </p:txBody>
      </p:sp>
      <p:sp>
        <p:nvSpPr>
          <p:cNvPr id="65" name="Text 65"/>
          <p:cNvSpPr/>
          <p:nvPr/>
        </p:nvSpPr>
        <p:spPr>
          <a:xfrm>
            <a:off x="471127"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Verte</a:t>
            </a:r>
          </a:p>
          <a:p>
            <a:pPr marL="0" indent="0" algn="ctr">
              <a:buNone/>
            </a:pPr>
            <a:r>
              <a:rPr lang="fr-FR" sz="1500" b="1" dirty="0">
                <a:solidFill>
                  <a:srgbClr val="8B1A2B"/>
                </a:solidFill>
                <a:latin typeface="Poppins"/>
              </a:rPr>
              <a:t>(Pleine)</a:t>
            </a:r>
          </a:p>
        </p:txBody>
      </p:sp>
      <p:sp>
        <p:nvSpPr>
          <p:cNvPr id="66" name="Text 66"/>
          <p:cNvSpPr/>
          <p:nvPr/>
        </p:nvSpPr>
        <p:spPr>
          <a:xfrm>
            <a:off x="501127" y="7463159"/>
            <a:ext cx="1890000" cy="2860000"/>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Je suis en pleine forme ! Je peux jouer et faire plein de choses.</a:t>
            </a:r>
          </a:p>
        </p:txBody>
      </p:sp>
      <p:sp>
        <p:nvSpPr>
          <p:cNvPr id="67" name="Card 67"/>
          <p:cNvSpPr/>
          <p:nvPr/>
        </p:nvSpPr>
        <p:spPr>
          <a:xfrm>
            <a:off x="2719971" y="5854865"/>
            <a:ext cx="2050000" cy="2375319"/>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68" name="BattBody 68"/>
          <p:cNvSpPr/>
          <p:nvPr/>
        </p:nvSpPr>
        <p:spPr>
          <a:xfrm>
            <a:off x="3384971" y="6114865"/>
            <a:ext cx="720000" cy="380000"/>
          </a:xfrm>
          <a:prstGeom prst="roundRect">
            <a:avLst>
              <a:gd name="adj" fmla="val 15000"/>
            </a:avLst>
          </a:prstGeom>
          <a:noFill/>
          <a:ln w="28575">
            <a:solidFill>
              <a:srgbClr val="8B1A2B"/>
            </a:solidFill>
          </a:ln>
        </p:spPr>
        <p:txBody>
          <a:bodyPr/>
          <a:lstStyle/>
          <a:p>
            <a:endParaRPr lang="fr-FR"/>
          </a:p>
        </p:txBody>
      </p:sp>
      <p:sp>
        <p:nvSpPr>
          <p:cNvPr id="69" name="BattNub 69"/>
          <p:cNvSpPr/>
          <p:nvPr/>
        </p:nvSpPr>
        <p:spPr>
          <a:xfrm>
            <a:off x="4104971" y="6244865"/>
            <a:ext cx="45000" cy="120000"/>
          </a:xfrm>
          <a:prstGeom prst="rect">
            <a:avLst/>
          </a:prstGeom>
          <a:solidFill>
            <a:srgbClr val="8B1A2B"/>
          </a:solidFill>
          <a:ln>
            <a:noFill/>
          </a:ln>
        </p:spPr>
        <p:txBody>
          <a:bodyPr/>
          <a:lstStyle/>
          <a:p>
            <a:endParaRPr lang="fr-FR"/>
          </a:p>
        </p:txBody>
      </p:sp>
      <p:sp>
        <p:nvSpPr>
          <p:cNvPr id="70" name="BattFill 70"/>
          <p:cNvSpPr/>
          <p:nvPr/>
        </p:nvSpPr>
        <p:spPr>
          <a:xfrm>
            <a:off x="3404971" y="6134865"/>
            <a:ext cx="408000" cy="340000"/>
          </a:xfrm>
          <a:prstGeom prst="roundRect">
            <a:avLst>
              <a:gd name="adj" fmla="val 15000"/>
            </a:avLst>
          </a:prstGeom>
          <a:solidFill>
            <a:srgbClr val="E8963D"/>
          </a:solidFill>
          <a:ln>
            <a:noFill/>
          </a:ln>
        </p:spPr>
        <p:txBody>
          <a:bodyPr/>
          <a:lstStyle/>
          <a:p>
            <a:endParaRPr lang="fr-FR"/>
          </a:p>
        </p:txBody>
      </p:sp>
      <p:sp>
        <p:nvSpPr>
          <p:cNvPr id="71" name="Text 71"/>
          <p:cNvSpPr/>
          <p:nvPr/>
        </p:nvSpPr>
        <p:spPr>
          <a:xfrm>
            <a:off x="2769971"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Orange</a:t>
            </a:r>
          </a:p>
          <a:p>
            <a:pPr marL="0" indent="0" algn="ctr">
              <a:buNone/>
            </a:pPr>
            <a:r>
              <a:rPr lang="fr-FR" sz="1500" b="1" dirty="0">
                <a:solidFill>
                  <a:srgbClr val="8B1A2B"/>
                </a:solidFill>
                <a:latin typeface="Poppins"/>
              </a:rPr>
              <a:t>(Moyenne)</a:t>
            </a:r>
          </a:p>
        </p:txBody>
      </p:sp>
      <p:sp>
        <p:nvSpPr>
          <p:cNvPr id="72" name="Text 72"/>
          <p:cNvSpPr/>
          <p:nvPr/>
        </p:nvSpPr>
        <p:spPr>
          <a:xfrm>
            <a:off x="2799971" y="7394865"/>
            <a:ext cx="1890000" cy="835319"/>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Ma batterie baisse un peu... J'ai besoin de faire une pause ou de choisir un jeu calme, comme le dessin.</a:t>
            </a:r>
          </a:p>
        </p:txBody>
      </p:sp>
      <p:sp>
        <p:nvSpPr>
          <p:cNvPr id="73" name="Card 73"/>
          <p:cNvSpPr/>
          <p:nvPr/>
        </p:nvSpPr>
        <p:spPr>
          <a:xfrm>
            <a:off x="5018815" y="5854865"/>
            <a:ext cx="2050000" cy="2385840"/>
          </a:xfrm>
          <a:prstGeom prst="roundRect">
            <a:avLst>
              <a:gd name="adj" fmla="val 6000"/>
            </a:avLst>
          </a:prstGeom>
          <a:solidFill>
            <a:srgbClr val="FFFFFF"/>
          </a:solidFill>
          <a:ln w="12700">
            <a:solidFill>
              <a:srgbClr val="8B1A2B">
                <a:alpha val="15000"/>
              </a:srgbClr>
            </a:solidFill>
          </a:ln>
          <a:effectLst>
            <a:outerShdw blurRad="60000" dist="20000" dir="5400000" algn="t" rotWithShape="0">
              <a:srgbClr val="8B1A2B">
                <a:alpha val="18000"/>
              </a:srgbClr>
            </a:outerShdw>
          </a:effectLst>
        </p:spPr>
        <p:txBody>
          <a:bodyPr/>
          <a:lstStyle/>
          <a:p>
            <a:endParaRPr lang="fr-FR"/>
          </a:p>
        </p:txBody>
      </p:sp>
      <p:sp>
        <p:nvSpPr>
          <p:cNvPr id="74" name="BattBody 74"/>
          <p:cNvSpPr/>
          <p:nvPr/>
        </p:nvSpPr>
        <p:spPr>
          <a:xfrm>
            <a:off x="5683815" y="6114865"/>
            <a:ext cx="720000" cy="380000"/>
          </a:xfrm>
          <a:prstGeom prst="roundRect">
            <a:avLst>
              <a:gd name="adj" fmla="val 15000"/>
            </a:avLst>
          </a:prstGeom>
          <a:noFill/>
          <a:ln w="28575">
            <a:solidFill>
              <a:srgbClr val="8B1A2B"/>
            </a:solidFill>
          </a:ln>
        </p:spPr>
        <p:txBody>
          <a:bodyPr/>
          <a:lstStyle/>
          <a:p>
            <a:endParaRPr lang="fr-FR"/>
          </a:p>
        </p:txBody>
      </p:sp>
      <p:sp>
        <p:nvSpPr>
          <p:cNvPr id="75" name="BattNub 75"/>
          <p:cNvSpPr/>
          <p:nvPr/>
        </p:nvSpPr>
        <p:spPr>
          <a:xfrm>
            <a:off x="6403815" y="6244865"/>
            <a:ext cx="45000" cy="120000"/>
          </a:xfrm>
          <a:prstGeom prst="rect">
            <a:avLst/>
          </a:prstGeom>
          <a:solidFill>
            <a:srgbClr val="8B1A2B"/>
          </a:solidFill>
          <a:ln>
            <a:noFill/>
          </a:ln>
        </p:spPr>
        <p:txBody>
          <a:bodyPr/>
          <a:lstStyle/>
          <a:p>
            <a:endParaRPr lang="fr-FR"/>
          </a:p>
        </p:txBody>
      </p:sp>
      <p:sp>
        <p:nvSpPr>
          <p:cNvPr id="76" name="BattFill 76"/>
          <p:cNvSpPr/>
          <p:nvPr/>
        </p:nvSpPr>
        <p:spPr>
          <a:xfrm>
            <a:off x="5703815" y="6134865"/>
            <a:ext cx="170000" cy="340000"/>
          </a:xfrm>
          <a:prstGeom prst="roundRect">
            <a:avLst>
              <a:gd name="adj" fmla="val 15000"/>
            </a:avLst>
          </a:prstGeom>
          <a:solidFill>
            <a:srgbClr val="C94F4F"/>
          </a:solidFill>
          <a:ln>
            <a:noFill/>
          </a:ln>
        </p:spPr>
        <p:txBody>
          <a:bodyPr/>
          <a:lstStyle/>
          <a:p>
            <a:endParaRPr lang="fr-FR"/>
          </a:p>
        </p:txBody>
      </p:sp>
      <p:sp>
        <p:nvSpPr>
          <p:cNvPr id="77" name="Text 77"/>
          <p:cNvSpPr/>
          <p:nvPr/>
        </p:nvSpPr>
        <p:spPr>
          <a:xfrm>
            <a:off x="5068815" y="6614865"/>
            <a:ext cx="1950000" cy="700000"/>
          </a:xfrm>
          <a:prstGeom prst="rect">
            <a:avLst/>
          </a:prstGeom>
          <a:noFill/>
          <a:ln/>
        </p:spPr>
        <p:txBody>
          <a:bodyPr wrap="square" lIns="0" tIns="0" rIns="0" bIns="0" rtlCol="0" anchor="t"/>
          <a:lstStyle/>
          <a:p>
            <a:pPr marL="0" indent="0" algn="ctr">
              <a:buNone/>
            </a:pPr>
            <a:r>
              <a:rPr lang="fr-FR" sz="1500" b="1" dirty="0">
                <a:solidFill>
                  <a:srgbClr val="8B1A2B"/>
                </a:solidFill>
                <a:latin typeface="Poppins"/>
              </a:rPr>
              <a:t>Pile Rouge</a:t>
            </a:r>
          </a:p>
          <a:p>
            <a:pPr marL="0" indent="0" algn="ctr">
              <a:buNone/>
            </a:pPr>
            <a:r>
              <a:rPr lang="fr-FR" sz="1500" b="1" dirty="0">
                <a:solidFill>
                  <a:srgbClr val="8B1A2B"/>
                </a:solidFill>
                <a:latin typeface="Poppins"/>
              </a:rPr>
              <a:t>(Vide)</a:t>
            </a:r>
          </a:p>
        </p:txBody>
      </p:sp>
      <p:sp>
        <p:nvSpPr>
          <p:cNvPr id="78" name="Text 78"/>
          <p:cNvSpPr/>
          <p:nvPr/>
        </p:nvSpPr>
        <p:spPr>
          <a:xfrm>
            <a:off x="5170741" y="7468580"/>
            <a:ext cx="1890000" cy="2860000"/>
          </a:xfrm>
          <a:prstGeom prst="rect">
            <a:avLst/>
          </a:prstGeom>
          <a:noFill/>
          <a:ln/>
        </p:spPr>
        <p:txBody>
          <a:bodyPr wrap="square" lIns="0" tIns="0" rIns="0" bIns="0" rtlCol="0" anchor="t"/>
          <a:lstStyle/>
          <a:p>
            <a:pPr marL="0" indent="0" algn="ctr">
              <a:buNone/>
            </a:pPr>
            <a:r>
              <a:rPr lang="fr-FR" sz="1150" b="0" dirty="0">
                <a:solidFill>
                  <a:srgbClr val="333333"/>
                </a:solidFill>
                <a:latin typeface="Poppins"/>
              </a:rPr>
              <a:t>Batterie à plat ! J'ai besoin de me reposer pour recharger mon énergie.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La douleur (les alarmes du corps)</a:t>
            </a:r>
            <a:endParaRPr lang="fr-FR" sz="2800" dirty="0"/>
          </a:p>
        </p:txBody>
      </p:sp>
      <p:pic>
        <p:nvPicPr>
          <p:cNvPr id="3" name="Image 0" descr="unpacked/ppt/media/image_A6C4BBD3.jpg"/>
          <p:cNvPicPr>
            <a:picLocks noChangeAspect="1"/>
          </p:cNvPicPr>
          <p:nvPr/>
        </p:nvPicPr>
        <p:blipFill>
          <a:blip r:embed="rId4"/>
          <a:srcRect t="8771" b="8771"/>
          <a:stretch/>
        </p:blipFill>
        <p:spPr>
          <a:xfrm>
            <a:off x="943550" y="1527950"/>
            <a:ext cx="5672899" cy="3252672"/>
          </a:xfrm>
          <a:prstGeom prst="roundRect">
            <a:avLst>
              <a:gd name="adj" fmla="val 3000"/>
            </a:avLst>
          </a:prstGeom>
          <a:effectLst>
            <a:outerShdw blurRad="76200" dist="38100" dir="5400000" algn="t" rotWithShape="0">
              <a:srgbClr val="8B1A2B">
                <a:alpha val="22000"/>
              </a:srgbClr>
            </a:outerShdw>
          </a:effectLst>
        </p:spPr>
      </p:pic>
      <p:sp>
        <p:nvSpPr>
          <p:cNvPr id="4" name="Text 1"/>
          <p:cNvSpPr/>
          <p:nvPr/>
        </p:nvSpPr>
        <p:spPr>
          <a:xfrm>
            <a:off x="468000" y="6840000"/>
            <a:ext cx="6624000" cy="2160000"/>
          </a:xfrm>
          <a:prstGeom prst="rect">
            <a:avLst/>
          </a:prstGeom>
          <a:noFill/>
          <a:ln/>
        </p:spPr>
        <p:txBody>
          <a:bodyPr wrap="square" lIns="0" tIns="0" rIns="0" bIns="0" rtlCol="0" anchor="t"/>
          <a:lstStyle/>
          <a:p>
            <a:pPr marL="0" indent="0" algn="l">
              <a:buNone/>
            </a:pPr>
            <a:endParaRPr lang="fr-FR" sz="2400" dirty="0"/>
          </a:p>
          <a:p>
            <a:pPr marL="0" indent="0" algn="ctr">
              <a:buNone/>
            </a:pPr>
            <a:r>
              <a:rPr lang="fr-FR" sz="2400" dirty="0">
                <a:solidFill>
                  <a:srgbClr val="333333"/>
                </a:solidFill>
                <a:latin typeface="Poppins" pitchFamily="34" charset="0"/>
                <a:ea typeface="Calibri" pitchFamily="34" charset="-122"/>
                <a:cs typeface="Calibri" pitchFamily="34" charset="-120"/>
              </a:rPr>
              <a:t>On apprend à écouter ces alarmes et à se reposer quand elles sonnent.</a:t>
            </a:r>
            <a:endParaRPr lang="fr-FR" sz="2400" dirty="0"/>
          </a:p>
          <a:p>
            <a:pPr algn="ctr"/>
            <a:endParaRPr lang="fr-FR" sz="2400" dirty="0"/>
          </a:p>
          <a:p>
            <a:pPr algn="ctr"/>
            <a:r>
              <a:rPr lang="fr-FR" sz="2400" b="1" dirty="0">
                <a:solidFill>
                  <a:srgbClr val="8B1A2B"/>
                </a:solidFill>
                <a:latin typeface="Poppins"/>
              </a:rPr>
              <a:t>Mais on peut apprendre à apprivoiser la douleur, avec l'aide des docteurs et de sa famille !</a:t>
            </a:r>
          </a:p>
        </p:txBody>
      </p:sp>
      <p:sp>
        <p:nvSpPr>
          <p:cNvPr id="342" name="Dot 5-2"/>
          <p:cNvSpPr/>
          <p:nvPr/>
        </p:nvSpPr>
        <p:spPr>
          <a:xfrm>
            <a:off x="4460401" y="6607933"/>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41" name="Dot 5-1"/>
          <p:cNvSpPr/>
          <p:nvPr/>
        </p:nvSpPr>
        <p:spPr>
          <a:xfrm>
            <a:off x="4632825" y="665999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40" name="Dot 5-0"/>
          <p:cNvSpPr/>
          <p:nvPr/>
        </p:nvSpPr>
        <p:spPr>
          <a:xfrm>
            <a:off x="4831913" y="6715725"/>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4" name="HeroBubble 5"/>
          <p:cNvSpPr/>
          <p:nvPr/>
        </p:nvSpPr>
        <p:spPr>
          <a:xfrm>
            <a:off x="5160988" y="5599726"/>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5374662" y="5796000"/>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69458873-06AC-4544-9442-F4907A7EC444}"/>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A8FF46D8-13B3-F144-B385-CDB16F8714CF}"/>
              </a:ext>
            </a:extLst>
          </p:cNvPr>
          <p:cNvSpPr/>
          <p:nvPr/>
        </p:nvSpPr>
        <p:spPr>
          <a:xfrm>
            <a:off x="778704" y="5451229"/>
            <a:ext cx="4227825" cy="830997"/>
          </a:xfrm>
          <a:prstGeom prst="rect">
            <a:avLst/>
          </a:prstGeom>
        </p:spPr>
        <p:txBody>
          <a:bodyPr wrap="square">
            <a:spAutoFit/>
          </a:bodyPr>
          <a:lstStyle/>
          <a:p>
            <a:r>
              <a:rPr lang="fr-FR" sz="2400" dirty="0">
                <a:solidFill>
                  <a:srgbClr val="333333"/>
                </a:solidFill>
                <a:latin typeface="Poppins" pitchFamily="34" charset="0"/>
                <a:ea typeface="Calibri" pitchFamily="34" charset="-122"/>
                <a:cs typeface="Calibri" pitchFamily="34" charset="-120"/>
              </a:rPr>
              <a:t>Avoir mal, c'est le corps qui envoie des signaux d'alarme.</a:t>
            </a:r>
            <a:endParaRPr lang="fr-FR"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827999"/>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Les aides et astuces</a:t>
            </a:r>
            <a:endParaRPr lang="fr-FR" sz="2800" dirty="0"/>
          </a:p>
          <a:p>
            <a:pPr marL="0" indent="0" algn="ctr">
              <a:buNone/>
            </a:pPr>
            <a:r>
              <a:rPr lang="fr-FR" sz="2800" b="1" dirty="0">
                <a:solidFill>
                  <a:srgbClr val="8B1A2B"/>
                </a:solidFill>
                <a:latin typeface="Poppins" pitchFamily="34" charset="0"/>
                <a:ea typeface="Calibri" pitchFamily="34" charset="-122"/>
                <a:cs typeface="Calibri" pitchFamily="34" charset="-120"/>
              </a:rPr>
              <a:t>(mes équipements de super-héros)</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15" name="Image 14">
            <a:extLst>
              <a:ext uri="{FF2B5EF4-FFF2-40B4-BE49-F238E27FC236}">
                <a16:creationId xmlns:a16="http://schemas.microsoft.com/office/drawing/2014/main" id="{A6BDF365-924F-7648-87CF-5EA68FCA163E}"/>
              </a:ext>
            </a:extLst>
          </p:cNvPr>
          <p:cNvPicPr>
            <a:picLocks noChangeAspect="1"/>
          </p:cNvPicPr>
          <p:nvPr/>
        </p:nvPicPr>
        <p:blipFill rotWithShape="1">
          <a:blip r:embed="rId4"/>
          <a:srcRect l="9802" t="10888" r="15836" b="19876"/>
          <a:stretch/>
        </p:blipFill>
        <p:spPr>
          <a:xfrm>
            <a:off x="6300000" y="9540000"/>
            <a:ext cx="1080000" cy="1007999"/>
          </a:xfrm>
          <a:prstGeom prst="rect">
            <a:avLst/>
          </a:prstGeom>
        </p:spPr>
      </p:pic>
      <p:sp>
        <p:nvSpPr>
          <p:cNvPr id="50" name="Text 50"/>
          <p:cNvSpPr/>
          <p:nvPr/>
        </p:nvSpPr>
        <p:spPr>
          <a:xfrm>
            <a:off x="831409" y="1425124"/>
            <a:ext cx="6041625" cy="7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Il existe plein de supers outils pour nous aider au quotidien. Ce sont des aides précieuses pour notre corps !</a:t>
            </a:r>
          </a:p>
        </p:txBody>
      </p:sp>
      <p:pic>
        <p:nvPicPr>
          <p:cNvPr id="71" name="Equip 71"/>
          <p:cNvPicPr>
            <a:picLocks noChangeAspect="1"/>
          </p:cNvPicPr>
          <p:nvPr/>
        </p:nvPicPr>
        <p:blipFill>
          <a:blip r:embed="rId5"/>
          <a:stretch>
            <a:fillRect/>
          </a:stretch>
        </p:blipFill>
        <p:spPr>
          <a:xfrm>
            <a:off x="408928" y="3221469"/>
            <a:ext cx="1456640" cy="1196253"/>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2" name="Text 72"/>
          <p:cNvSpPr/>
          <p:nvPr/>
        </p:nvSpPr>
        <p:spPr>
          <a:xfrm>
            <a:off x="1437639" y="2622902"/>
            <a:ext cx="5317688"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Les Boucliers Magiques </a:t>
            </a:r>
            <a:r>
              <a:rPr lang="fr-FR" sz="2400" b="0" dirty="0">
                <a:solidFill>
                  <a:srgbClr val="8B1A2B"/>
                </a:solidFill>
                <a:latin typeface="Poppins"/>
              </a:rPr>
              <a:t>(les attelles)</a:t>
            </a:r>
          </a:p>
        </p:txBody>
      </p:sp>
      <p:sp>
        <p:nvSpPr>
          <p:cNvPr id="73" name="Text 73"/>
          <p:cNvSpPr/>
          <p:nvPr/>
        </p:nvSpPr>
        <p:spPr>
          <a:xfrm>
            <a:off x="1983275" y="3235469"/>
            <a:ext cx="4889759" cy="610719"/>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Ils protègent les articulations (genoux, poignets...) pour qu'elles restent bien en place et ne fassent pas de bêtises.</a:t>
            </a:r>
          </a:p>
        </p:txBody>
      </p:sp>
      <p:pic>
        <p:nvPicPr>
          <p:cNvPr id="74" name="Equip 74"/>
          <p:cNvPicPr>
            <a:picLocks noChangeAspect="1"/>
          </p:cNvPicPr>
          <p:nvPr/>
        </p:nvPicPr>
        <p:blipFill>
          <a:blip r:embed="rId6"/>
          <a:stretch>
            <a:fillRect/>
          </a:stretch>
        </p:blipFill>
        <p:spPr>
          <a:xfrm>
            <a:off x="457200" y="5586739"/>
            <a:ext cx="1432486" cy="1186358"/>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5" name="Text 75"/>
          <p:cNvSpPr/>
          <p:nvPr/>
        </p:nvSpPr>
        <p:spPr>
          <a:xfrm>
            <a:off x="1555345" y="4771859"/>
            <a:ext cx="5507503"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L'Armure Secrète </a:t>
            </a:r>
            <a:r>
              <a:rPr lang="fr-FR" sz="2400" b="0" dirty="0">
                <a:solidFill>
                  <a:srgbClr val="8B1A2B"/>
                </a:solidFill>
                <a:latin typeface="Poppins"/>
              </a:rPr>
              <a:t>(les vêtements de compression)</a:t>
            </a:r>
          </a:p>
        </p:txBody>
      </p:sp>
      <p:sp>
        <p:nvSpPr>
          <p:cNvPr id="76" name="Text 76"/>
          <p:cNvSpPr/>
          <p:nvPr/>
        </p:nvSpPr>
        <p:spPr>
          <a:xfrm>
            <a:off x="2079500" y="5675996"/>
            <a:ext cx="4793534" cy="1200000"/>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Elle serre un petit peu, comme un gros câlin, pour aider le corps à se tenir bien droit et à moins se fatiguer.</a:t>
            </a:r>
          </a:p>
        </p:txBody>
      </p:sp>
      <p:pic>
        <p:nvPicPr>
          <p:cNvPr id="77" name="Equip 77"/>
          <p:cNvPicPr>
            <a:picLocks noChangeAspect="1"/>
          </p:cNvPicPr>
          <p:nvPr/>
        </p:nvPicPr>
        <p:blipFill>
          <a:blip r:embed="rId7"/>
          <a:stretch>
            <a:fillRect/>
          </a:stretch>
        </p:blipFill>
        <p:spPr>
          <a:xfrm>
            <a:off x="520569" y="8168217"/>
            <a:ext cx="1462706" cy="1175742"/>
          </a:xfrm>
          <a:prstGeom prst="ellipse">
            <a:avLst/>
          </a:prstGeom>
          <a:ln w="19050">
            <a:solidFill>
              <a:srgbClr val="8B1A2B">
                <a:alpha val="30000"/>
              </a:srgbClr>
            </a:solidFill>
          </a:ln>
          <a:effectLst>
            <a:outerShdw blurRad="50000" dist="20000" dir="5400000" algn="t" rotWithShape="0">
              <a:srgbClr val="8B1A2B">
                <a:alpha val="20000"/>
              </a:srgbClr>
            </a:outerShdw>
          </a:effectLst>
        </p:spPr>
      </p:pic>
      <p:sp>
        <p:nvSpPr>
          <p:cNvPr id="78" name="Text 78"/>
          <p:cNvSpPr/>
          <p:nvPr/>
        </p:nvSpPr>
        <p:spPr>
          <a:xfrm>
            <a:off x="1702300" y="7318044"/>
            <a:ext cx="5317688" cy="1750000"/>
          </a:xfrm>
          <a:prstGeom prst="rect">
            <a:avLst/>
          </a:prstGeom>
          <a:noFill/>
          <a:ln/>
        </p:spPr>
        <p:txBody>
          <a:bodyPr wrap="square" lIns="0" tIns="0" rIns="0" bIns="0" rtlCol="0" anchor="t"/>
          <a:lstStyle/>
          <a:p>
            <a:pPr marL="0" indent="0" algn="l">
              <a:buNone/>
            </a:pPr>
            <a:r>
              <a:rPr lang="fr-FR" sz="2400" b="1" dirty="0">
                <a:solidFill>
                  <a:srgbClr val="8B1A2B"/>
                </a:solidFill>
                <a:latin typeface="Poppins"/>
              </a:rPr>
              <a:t>Les Super-Propulseurs </a:t>
            </a:r>
            <a:r>
              <a:rPr lang="fr-FR" sz="2400" b="0" dirty="0">
                <a:solidFill>
                  <a:srgbClr val="8B1A2B"/>
                </a:solidFill>
                <a:latin typeface="Poppins"/>
              </a:rPr>
              <a:t>(les béquilles ou le fauteuil)</a:t>
            </a:r>
          </a:p>
        </p:txBody>
      </p:sp>
      <p:sp>
        <p:nvSpPr>
          <p:cNvPr id="79" name="Text 79"/>
          <p:cNvSpPr/>
          <p:nvPr/>
        </p:nvSpPr>
        <p:spPr>
          <a:xfrm>
            <a:off x="2079500" y="8209482"/>
            <a:ext cx="4793534" cy="1200000"/>
          </a:xfrm>
          <a:prstGeom prst="rect">
            <a:avLst/>
          </a:prstGeom>
          <a:noFill/>
          <a:ln/>
        </p:spPr>
        <p:txBody>
          <a:bodyPr wrap="square" lIns="0" tIns="0" rIns="0" bIns="0" rtlCol="0" anchor="t"/>
          <a:lstStyle/>
          <a:p>
            <a:pPr marL="0" indent="0" algn="l">
              <a:buNone/>
            </a:pPr>
            <a:r>
              <a:rPr lang="fr-FR" sz="2400" b="0" dirty="0">
                <a:solidFill>
                  <a:srgbClr val="333333"/>
                </a:solidFill>
                <a:latin typeface="Poppins"/>
              </a:rPr>
              <a:t>Quand les jambes n'ont plus de batterie, ils nous aident à avancer et à nous reposer en même temps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Jouons ensemble</a:t>
            </a:r>
            <a:r>
              <a:rPr lang="fr-FR" sz="2800" dirty="0"/>
              <a:t> </a:t>
            </a:r>
            <a:r>
              <a:rPr lang="fr-FR" sz="2800" b="1" dirty="0">
                <a:solidFill>
                  <a:srgbClr val="8B1A2B"/>
                </a:solidFill>
                <a:latin typeface="Poppins" pitchFamily="34" charset="0"/>
                <a:ea typeface="Calibri" pitchFamily="34" charset="-122"/>
                <a:cs typeface="Calibri" pitchFamily="34" charset="-120"/>
              </a:rPr>
              <a:t>avec bienveillance !</a:t>
            </a:r>
            <a:endParaRPr lang="fr-FR" sz="2800" dirty="0"/>
          </a:p>
        </p:txBody>
      </p:sp>
      <p:sp>
        <p:nvSpPr>
          <p:cNvPr id="3" name="Text 1"/>
          <p:cNvSpPr/>
          <p:nvPr/>
        </p:nvSpPr>
        <p:spPr>
          <a:xfrm>
            <a:off x="591510" y="3203260"/>
            <a:ext cx="5040000" cy="1345000"/>
          </a:xfrm>
          <a:prstGeom prst="rect">
            <a:avLst/>
          </a:prstGeom>
          <a:noFill/>
          <a:ln/>
        </p:spPr>
        <p:txBody>
          <a:bodyPr wrap="square" lIns="0" tIns="0" rIns="0" bIns="0" rtlCol="0" anchor="t"/>
          <a:lstStyle/>
          <a:p>
            <a:pPr marL="0" indent="0">
              <a:buNone/>
            </a:pPr>
            <a:r>
              <a:rPr lang="fr-FR" sz="2400" dirty="0">
                <a:solidFill>
                  <a:srgbClr val="333333"/>
                </a:solidFill>
                <a:latin typeface="Poppins" pitchFamily="34" charset="0"/>
                <a:ea typeface="Calibri" pitchFamily="34" charset="-122"/>
                <a:cs typeface="Calibri" pitchFamily="34" charset="-120"/>
              </a:rPr>
              <a:t>Dans la cour, on peut s'amuser ensemble à des </a:t>
            </a:r>
            <a:r>
              <a:rPr lang="fr-FR" sz="2400" b="1" dirty="0">
                <a:solidFill>
                  <a:srgbClr val="333333"/>
                </a:solidFill>
                <a:latin typeface="Poppins" pitchFamily="34" charset="0"/>
                <a:ea typeface="Calibri" pitchFamily="34" charset="-122"/>
                <a:cs typeface="Calibri" pitchFamily="34" charset="-120"/>
              </a:rPr>
              <a:t>jeux sans bousculade</a:t>
            </a:r>
            <a:r>
              <a:rPr lang="fr-FR" sz="2400" dirty="0">
                <a:solidFill>
                  <a:srgbClr val="333333"/>
                </a:solidFill>
                <a:latin typeface="Poppins" pitchFamily="34" charset="0"/>
                <a:ea typeface="Calibri" pitchFamily="34" charset="-122"/>
                <a:cs typeface="Calibri" pitchFamily="34" charset="-120"/>
              </a:rPr>
              <a:t> : la marelle, la corde à sauter, les jeux de société, le dessin...</a:t>
            </a:r>
            <a:endParaRPr lang="fr-FR" sz="2400" dirty="0"/>
          </a:p>
        </p:txBody>
      </p:sp>
      <p:pic>
        <p:nvPicPr>
          <p:cNvPr id="4" name="Image 0" descr="unpacked/ppt/media/image_34176320.jpg"/>
          <p:cNvPicPr>
            <a:picLocks noChangeAspect="1"/>
          </p:cNvPicPr>
          <p:nvPr/>
        </p:nvPicPr>
        <p:blipFill>
          <a:blip r:embed="rId4"/>
          <a:srcRect t="14115" b="14115"/>
          <a:stretch/>
        </p:blipFill>
        <p:spPr>
          <a:xfrm>
            <a:off x="786951" y="5352128"/>
            <a:ext cx="5853112" cy="3211241"/>
          </a:xfrm>
          <a:prstGeom prst="roundRect">
            <a:avLst>
              <a:gd name="adj" fmla="val 3000"/>
            </a:avLst>
          </a:prstGeom>
          <a:effectLst>
            <a:outerShdw blurRad="76200" dist="38100" dir="5400000" algn="t" rotWithShape="0">
              <a:srgbClr val="8B1A2B">
                <a:alpha val="22000"/>
              </a:srgbClr>
            </a:outerShdw>
          </a:effectLst>
        </p:spPr>
      </p:pic>
      <p:sp>
        <p:nvSpPr>
          <p:cNvPr id="362" name="Dot 7-2"/>
          <p:cNvSpPr/>
          <p:nvPr/>
        </p:nvSpPr>
        <p:spPr>
          <a:xfrm flipH="1" flipV="1">
            <a:off x="5525519" y="2776444"/>
            <a:ext cx="76200" cy="4571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61" name="Dot 7-1"/>
          <p:cNvSpPr/>
          <p:nvPr/>
        </p:nvSpPr>
        <p:spPr>
          <a:xfrm>
            <a:off x="5627051" y="2934883"/>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60" name="Dot 7-0"/>
          <p:cNvSpPr/>
          <p:nvPr/>
        </p:nvSpPr>
        <p:spPr>
          <a:xfrm>
            <a:off x="5772960" y="3148840"/>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6" name="HeroBubble 7"/>
          <p:cNvSpPr/>
          <p:nvPr/>
        </p:nvSpPr>
        <p:spPr>
          <a:xfrm>
            <a:off x="5747782" y="3311824"/>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5952960" y="3371761"/>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9D7E1C6A-FBA3-D34A-B763-54C2F74994B1}"/>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
        <p:nvSpPr>
          <p:cNvPr id="6" name="Rectangle 5">
            <a:extLst>
              <a:ext uri="{FF2B5EF4-FFF2-40B4-BE49-F238E27FC236}">
                <a16:creationId xmlns:a16="http://schemas.microsoft.com/office/drawing/2014/main" id="{8637792D-573F-9345-B686-EF59C5D4B0A7}"/>
              </a:ext>
            </a:extLst>
          </p:cNvPr>
          <p:cNvSpPr/>
          <p:nvPr/>
        </p:nvSpPr>
        <p:spPr>
          <a:xfrm>
            <a:off x="500000" y="1108924"/>
            <a:ext cx="6250864" cy="1938992"/>
          </a:xfrm>
          <a:prstGeom prst="rect">
            <a:avLst/>
          </a:prstGeom>
        </p:spPr>
        <p:txBody>
          <a:bodyPr wrap="square">
            <a:spAutoFit/>
          </a:bodyPr>
          <a:lstStyle/>
          <a:p>
            <a:r>
              <a:rPr lang="fr-FR" sz="2400" b="1" dirty="0">
                <a:solidFill>
                  <a:srgbClr val="8B1A2B"/>
                </a:solidFill>
                <a:latin typeface="Poppins" pitchFamily="34" charset="0"/>
                <a:ea typeface="Calibri" pitchFamily="34" charset="-122"/>
                <a:cs typeface="Calibri" pitchFamily="34" charset="-120"/>
              </a:rPr>
              <a:t>Sois un super copain !</a:t>
            </a:r>
          </a:p>
          <a:p>
            <a:endParaRPr lang="fr-FR" sz="2400" b="1" dirty="0"/>
          </a:p>
          <a:p>
            <a:r>
              <a:rPr lang="fr-FR" sz="2400" dirty="0">
                <a:solidFill>
                  <a:srgbClr val="333333"/>
                </a:solidFill>
                <a:latin typeface="Poppins" pitchFamily="34" charset="0"/>
                <a:ea typeface="Calibri" pitchFamily="34" charset="-122"/>
                <a:cs typeface="Calibri" pitchFamily="34" charset="-120"/>
              </a:rPr>
              <a:t>Un copain ou une copine avec le SED a une colle spéciale qui le rend plus fragile. Ce n'est pas de sa faute, et il a besoin de ta gentillesse !</a:t>
            </a:r>
            <a:endParaRPr lang="fr-FR" sz="2400" dirty="0"/>
          </a:p>
        </p:txBody>
      </p:sp>
      <p:sp>
        <p:nvSpPr>
          <p:cNvPr id="7" name="Rectangle 6">
            <a:extLst>
              <a:ext uri="{FF2B5EF4-FFF2-40B4-BE49-F238E27FC236}">
                <a16:creationId xmlns:a16="http://schemas.microsoft.com/office/drawing/2014/main" id="{EFD6C0EA-2F6B-3343-B0CA-52EAB84A47A3}"/>
              </a:ext>
            </a:extLst>
          </p:cNvPr>
          <p:cNvSpPr/>
          <p:nvPr/>
        </p:nvSpPr>
        <p:spPr>
          <a:xfrm>
            <a:off x="786951" y="9050779"/>
            <a:ext cx="5867400" cy="461665"/>
          </a:xfrm>
          <a:prstGeom prst="rect">
            <a:avLst/>
          </a:prstGeom>
        </p:spPr>
        <p:txBody>
          <a:bodyPr wrap="square">
            <a:spAutoFit/>
          </a:bodyPr>
          <a:lstStyle/>
          <a:p>
            <a:pPr algn="ctr"/>
            <a:r>
              <a:rPr lang="fr-FR" sz="2400" b="1" dirty="0">
                <a:solidFill>
                  <a:srgbClr val="333333"/>
                </a:solidFill>
                <a:latin typeface="Poppins" pitchFamily="34" charset="0"/>
                <a:ea typeface="Calibri" pitchFamily="34" charset="-122"/>
                <a:cs typeface="Calibri" pitchFamily="34" charset="-120"/>
              </a:rPr>
              <a:t>Pas besoin de se pousser pour bien rigoler !</a:t>
            </a:r>
            <a:endParaRPr lang="fr-FR"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en-US" sz="3000" b="1">
                <a:solidFill>
                  <a:srgbClr val="8B1A2B"/>
                </a:solidFill>
                <a:latin typeface="Poppins" pitchFamily="34" charset="0"/>
                <a:ea typeface="Calibri" pitchFamily="34" charset="-122"/>
                <a:cs typeface="Calibri" pitchFamily="34" charset="-120"/>
              </a:rPr>
              <a:t>Ensemble, on est plus forts !</a:t>
            </a:r>
            <a:endParaRPr lang="en-US" sz="3000"/>
          </a:p>
        </p:txBody>
      </p:sp>
      <p:pic>
        <p:nvPicPr>
          <p:cNvPr id="3" name="Image 0" descr="unpacked/ppt/media/image_3304ECD1.jpg"/>
          <p:cNvPicPr>
            <a:picLocks noChangeAspect="1"/>
          </p:cNvPicPr>
          <p:nvPr/>
        </p:nvPicPr>
        <p:blipFill>
          <a:blip r:embed="rId4"/>
          <a:srcRect l="4962" r="4962"/>
          <a:stretch/>
        </p:blipFill>
        <p:spPr>
          <a:xfrm>
            <a:off x="914781" y="1490708"/>
            <a:ext cx="5733288" cy="3657796"/>
          </a:xfrm>
          <a:prstGeom prst="roundRect">
            <a:avLst>
              <a:gd name="adj" fmla="val 3000"/>
            </a:avLst>
          </a:prstGeom>
          <a:effectLst>
            <a:outerShdw blurRad="76200" dist="38100" dir="5400000" algn="t" rotWithShape="0">
              <a:srgbClr val="8B1A2B">
                <a:alpha val="22000"/>
              </a:srgbClr>
            </a:outerShdw>
          </a:effectLst>
        </p:spPr>
      </p:pic>
      <p:sp>
        <p:nvSpPr>
          <p:cNvPr id="4" name="Text 1"/>
          <p:cNvSpPr/>
          <p:nvPr/>
        </p:nvSpPr>
        <p:spPr>
          <a:xfrm>
            <a:off x="914781" y="5771474"/>
            <a:ext cx="5533644" cy="2620845"/>
          </a:xfrm>
          <a:prstGeom prst="rect">
            <a:avLst/>
          </a:prstGeom>
          <a:noFill/>
          <a:ln/>
        </p:spPr>
        <p:txBody>
          <a:bodyPr/>
          <a:lstStyle/>
          <a:p>
            <a:pPr algn="l"/>
            <a:r>
              <a:rPr lang="fr-FR" sz="2400" dirty="0">
                <a:solidFill>
                  <a:srgbClr val="333333"/>
                </a:solidFill>
                <a:latin typeface="Poppins"/>
              </a:rPr>
              <a:t>On peut parler, se comprendre et </a:t>
            </a:r>
          </a:p>
          <a:p>
            <a:pPr algn="l"/>
            <a:r>
              <a:rPr lang="fr-FR" sz="2400" dirty="0">
                <a:solidFill>
                  <a:srgbClr val="333333"/>
                </a:solidFill>
                <a:latin typeface="Poppins"/>
              </a:rPr>
              <a:t>Trouver des solutions ensemble.</a:t>
            </a:r>
          </a:p>
          <a:p>
            <a:pPr algn="l"/>
            <a:endParaRPr lang="fr-FR" sz="2400" dirty="0">
              <a:solidFill>
                <a:srgbClr val="333333"/>
              </a:solidFill>
              <a:latin typeface="Poppins"/>
            </a:endParaRPr>
          </a:p>
          <a:p>
            <a:pPr algn="l">
              <a:spcBef>
                <a:spcPts val="400"/>
              </a:spcBef>
            </a:pPr>
            <a:r>
              <a:rPr lang="fr-FR" sz="2400" b="1" dirty="0">
                <a:solidFill>
                  <a:srgbClr val="333333"/>
                </a:solidFill>
                <a:latin typeface="Poppins"/>
              </a:rPr>
              <a:t>C'est important de se sentir entouré.</a:t>
            </a:r>
          </a:p>
          <a:p>
            <a:pPr algn="l">
              <a:spcBef>
                <a:spcPts val="400"/>
              </a:spcBef>
            </a:pPr>
            <a:endParaRPr lang="fr-FR" sz="2400" b="1" dirty="0">
              <a:solidFill>
                <a:srgbClr val="333333"/>
              </a:solidFill>
              <a:latin typeface="Poppins"/>
            </a:endParaRPr>
          </a:p>
          <a:p>
            <a:pPr algn="l">
              <a:spcBef>
                <a:spcPts val="400"/>
              </a:spcBef>
            </a:pPr>
            <a:r>
              <a:rPr lang="fr-FR" sz="2400" b="1" dirty="0">
                <a:solidFill>
                  <a:srgbClr val="8B1A2B"/>
                </a:solidFill>
                <a:latin typeface="Poppins"/>
              </a:rPr>
              <a:t>Tu es un super-héros, n'oublie jamais !</a:t>
            </a:r>
          </a:p>
        </p:txBody>
      </p:sp>
      <p:sp>
        <p:nvSpPr>
          <p:cNvPr id="372" name="Dot 8-2"/>
          <p:cNvSpPr/>
          <p:nvPr/>
        </p:nvSpPr>
        <p:spPr>
          <a:xfrm>
            <a:off x="5457825" y="6095920"/>
            <a:ext cx="79200" cy="792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71" name="Dot 8-1"/>
          <p:cNvSpPr/>
          <p:nvPr/>
        </p:nvSpPr>
        <p:spPr>
          <a:xfrm>
            <a:off x="5562001" y="6258719"/>
            <a:ext cx="125999" cy="125999"/>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370" name="Dot 8-0"/>
          <p:cNvSpPr/>
          <p:nvPr/>
        </p:nvSpPr>
        <p:spPr>
          <a:xfrm>
            <a:off x="5635158" y="6409198"/>
            <a:ext cx="180000" cy="180000"/>
          </a:xfrm>
          <a:prstGeom prst="ellipse">
            <a:avLst/>
          </a:prstGeom>
          <a:solidFill>
            <a:srgbClr val="FFFFFF">
              <a:alpha val="65000"/>
            </a:srgbClr>
          </a:solidFill>
          <a:ln w="12700">
            <a:solidFill>
              <a:srgbClr val="8B1A2B">
                <a:alpha val="30000"/>
              </a:srgbClr>
            </a:solidFill>
          </a:ln>
        </p:spPr>
        <p:txBody>
          <a:bodyPr/>
          <a:lstStyle/>
          <a:p>
            <a:endParaRPr lang="fr-FR"/>
          </a:p>
        </p:txBody>
      </p:sp>
      <p:sp>
        <p:nvSpPr>
          <p:cNvPr id="207" name="HeroBubble 8"/>
          <p:cNvSpPr/>
          <p:nvPr/>
        </p:nvSpPr>
        <p:spPr>
          <a:xfrm>
            <a:off x="5835539" y="6258719"/>
            <a:ext cx="1295999" cy="1295999"/>
          </a:xfrm>
          <a:prstGeom prst="ellipse">
            <a:avLst/>
          </a:prstGeom>
          <a:solidFill>
            <a:srgbClr val="FFFFFF">
              <a:alpha val="70000"/>
            </a:srgbClr>
          </a:solidFill>
          <a:ln w="15875">
            <a:solidFill>
              <a:srgbClr val="8B1A2B">
                <a:alpha val="35000"/>
              </a:srgbClr>
            </a:solidFill>
          </a:ln>
          <a:effectLst>
            <a:outerShdw blurRad="40000" dist="20000" dir="5400000" algn="t" rotWithShape="0">
              <a:srgbClr val="8B1A2B">
                <a:alpha val="12000"/>
              </a:srgbClr>
            </a:outerShdw>
          </a:effectLst>
        </p:spPr>
        <p:txBody>
          <a:bodyPr/>
          <a:lstStyle/>
          <a:p>
            <a:endParaRPr lang="fr-FR"/>
          </a:p>
        </p:txBody>
      </p:sp>
      <p:pic>
        <p:nvPicPr>
          <p:cNvPr id="5" name="Image 1" descr="unpacked/ppt/media/image_E673173E.jpg"/>
          <p:cNvPicPr>
            <a:picLocks noChangeAspect="1"/>
          </p:cNvPicPr>
          <p:nvPr/>
        </p:nvPicPr>
        <p:blipFill>
          <a:blip r:embed="rId5"/>
          <a:stretch>
            <a:fillRect/>
          </a:stretch>
        </p:blipFill>
        <p:spPr>
          <a:xfrm>
            <a:off x="6054851" y="6384718"/>
            <a:ext cx="1007999" cy="1007999"/>
          </a:xfrm>
          <a:prstGeom prst="rect">
            <a:avLst/>
          </a:prstGeom>
        </p:spPr>
      </p:pic>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21E0B056-8D9F-8042-A02E-B988B66CF19F}"/>
              </a:ext>
            </a:extLst>
          </p:cNvPr>
          <p:cNvPicPr>
            <a:picLocks noChangeAspect="1"/>
          </p:cNvPicPr>
          <p:nvPr/>
        </p:nvPicPr>
        <p:blipFill rotWithShape="1">
          <a:blip r:embed="rId6"/>
          <a:srcRect l="9802" t="10888" r="15836" b="19876"/>
          <a:stretch/>
        </p:blipFill>
        <p:spPr>
          <a:xfrm>
            <a:off x="6300000" y="9540000"/>
            <a:ext cx="1080000" cy="100799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Le Pacte des Supers Copains !</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50" name="Text 50"/>
          <p:cNvSpPr/>
          <p:nvPr/>
        </p:nvSpPr>
        <p:spPr>
          <a:xfrm>
            <a:off x="457200" y="1080000"/>
            <a:ext cx="6647688" cy="13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Peut-être que tu connais déjà, ou que tu rencontreras un jour, un copain ou une copine avec le SED. Sa colle spéciale le rend plus fragile, mais ce n'est pas de sa faute ! Pas besoin de se pousser pour bien rigoler ensemble.</a:t>
            </a:r>
          </a:p>
        </p:txBody>
      </p:sp>
      <p:sp>
        <p:nvSpPr>
          <p:cNvPr id="51" name="DiplomaBox"/>
          <p:cNvSpPr/>
          <p:nvPr/>
        </p:nvSpPr>
        <p:spPr>
          <a:xfrm>
            <a:off x="770513" y="3195858"/>
            <a:ext cx="5962850" cy="6344141"/>
          </a:xfrm>
          <a:prstGeom prst="roundRect">
            <a:avLst>
              <a:gd name="adj" fmla="val 3500"/>
            </a:avLst>
          </a:prstGeom>
          <a:solidFill>
            <a:srgbClr val="FFFFFF"/>
          </a:solidFill>
          <a:ln w="34925" cmpd="dbl">
            <a:solidFill>
              <a:srgbClr val="8B1A2B"/>
            </a:solidFill>
          </a:ln>
        </p:spPr>
        <p:txBody>
          <a:bodyPr/>
          <a:lstStyle/>
          <a:p>
            <a:endParaRPr lang="fr-FR"/>
          </a:p>
        </p:txBody>
      </p:sp>
      <p:pic>
        <p:nvPicPr>
          <p:cNvPr id="52" name="Badge"/>
          <p:cNvPicPr>
            <a:picLocks noChangeAspect="1"/>
          </p:cNvPicPr>
          <p:nvPr/>
        </p:nvPicPr>
        <p:blipFill>
          <a:blip r:embed="rId4"/>
          <a:stretch>
            <a:fillRect/>
          </a:stretch>
        </p:blipFill>
        <p:spPr>
          <a:xfrm>
            <a:off x="3095625" y="3131850"/>
            <a:ext cx="1410706" cy="1410706"/>
          </a:xfrm>
          <a:prstGeom prst="rect">
            <a:avLst/>
          </a:prstGeom>
        </p:spPr>
      </p:pic>
      <p:sp>
        <p:nvSpPr>
          <p:cNvPr id="53" name="Text 53"/>
          <p:cNvSpPr/>
          <p:nvPr/>
        </p:nvSpPr>
        <p:spPr>
          <a:xfrm>
            <a:off x="920513" y="4527901"/>
            <a:ext cx="5662850" cy="500000"/>
          </a:xfrm>
          <a:prstGeom prst="rect">
            <a:avLst/>
          </a:prstGeom>
          <a:noFill/>
          <a:ln/>
        </p:spPr>
        <p:txBody>
          <a:bodyPr wrap="square" lIns="0" tIns="0" rIns="0" bIns="0" rtlCol="0" anchor="t"/>
          <a:lstStyle/>
          <a:p>
            <a:pPr marL="0" indent="0" algn="ctr">
              <a:buNone/>
            </a:pPr>
            <a:r>
              <a:rPr lang="fr-FR" sz="2400" b="1" dirty="0">
                <a:solidFill>
                  <a:srgbClr val="8B1A2B"/>
                </a:solidFill>
                <a:latin typeface="Poppins"/>
              </a:rPr>
              <a:t>En signant ce diplôme de Super Copain, je m'engage à :</a:t>
            </a:r>
          </a:p>
        </p:txBody>
      </p:sp>
      <p:sp>
        <p:nvSpPr>
          <p:cNvPr id="54" name="Bullets 54"/>
          <p:cNvSpPr/>
          <p:nvPr/>
        </p:nvSpPr>
        <p:spPr>
          <a:xfrm>
            <a:off x="920513" y="5458954"/>
            <a:ext cx="5691955" cy="3200000"/>
          </a:xfrm>
          <a:prstGeom prst="rect">
            <a:avLst/>
          </a:prstGeom>
          <a:noFill/>
          <a:ln/>
        </p:spPr>
        <p:txBody>
          <a:bodyPr wrap="square" lIns="0" tIns="0" rIns="0" bIns="0" rtlCol="0" anchor="t"/>
          <a:lstStyle/>
          <a:p>
            <a:pPr marL="342900" indent="-342900">
              <a:buFont typeface="Arial"/>
              <a:buChar char="•"/>
            </a:pPr>
            <a:r>
              <a:rPr lang="fr-FR" sz="2400" dirty="0">
                <a:solidFill>
                  <a:srgbClr val="333333"/>
                </a:solidFill>
                <a:latin typeface="Poppins"/>
              </a:rPr>
              <a:t>Écouter un copain ou une copine qui me dit que sa batterie est à plat.</a:t>
            </a:r>
          </a:p>
          <a:p>
            <a:pPr marL="342900" indent="-342900">
              <a:buFont typeface="Arial"/>
              <a:buChar char="•"/>
            </a:pPr>
            <a:r>
              <a:rPr lang="fr-FR" sz="2400" dirty="0">
                <a:solidFill>
                  <a:srgbClr val="333333"/>
                </a:solidFill>
                <a:latin typeface="Poppins"/>
              </a:rPr>
              <a:t>Proposer des jeux sans bousculade (comme la marelle, les jeux de société, inventer des histoires...).</a:t>
            </a:r>
          </a:p>
          <a:p>
            <a:pPr marL="342900" indent="-342900">
              <a:buFont typeface="Arial"/>
              <a:buChar char="•"/>
            </a:pPr>
            <a:r>
              <a:rPr lang="fr-FR" sz="2400" dirty="0">
                <a:solidFill>
                  <a:srgbClr val="333333"/>
                </a:solidFill>
                <a:latin typeface="Poppins"/>
              </a:rPr>
              <a:t>Me rappeler que même quand la colle de quelqu'un est différente, ensemble, on est plus forts !</a:t>
            </a:r>
          </a:p>
        </p:txBody>
      </p:sp>
      <p:sp>
        <p:nvSpPr>
          <p:cNvPr id="55" name="Text 55"/>
          <p:cNvSpPr/>
          <p:nvPr/>
        </p:nvSpPr>
        <p:spPr>
          <a:xfrm>
            <a:off x="949619" y="8638764"/>
            <a:ext cx="5662850" cy="700000"/>
          </a:xfrm>
          <a:prstGeom prst="rect">
            <a:avLst/>
          </a:prstGeom>
          <a:noFill/>
          <a:ln/>
        </p:spPr>
        <p:txBody>
          <a:bodyPr wrap="square" lIns="0" tIns="0" rIns="0" bIns="0" rtlCol="0" anchor="t"/>
          <a:lstStyle/>
          <a:p>
            <a:pPr marL="0" indent="0" algn="ctr">
              <a:buNone/>
            </a:pPr>
            <a:r>
              <a:rPr lang="fr-FR" sz="2400" b="1" dirty="0">
                <a:solidFill>
                  <a:srgbClr val="8B1A2B"/>
                </a:solidFill>
                <a:latin typeface="Poppins"/>
              </a:rPr>
              <a:t>Signature du super copain : _________________________</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5760"/>
            <a:ext cx="6647688" cy="640080"/>
          </a:xfrm>
          <a:prstGeom prst="rect">
            <a:avLst/>
          </a:prstGeom>
          <a:noFill/>
          <a:ln/>
        </p:spPr>
        <p:txBody>
          <a:bodyPr wrap="square" lIns="0" tIns="0" rIns="0" bIns="0" rtlCol="0" anchor="ctr"/>
          <a:lstStyle/>
          <a:p>
            <a:pPr marL="0" indent="0" algn="ctr">
              <a:buNone/>
            </a:pPr>
            <a:r>
              <a:rPr lang="fr-FR" sz="2800" b="1" dirty="0">
                <a:solidFill>
                  <a:srgbClr val="8B1A2B"/>
                </a:solidFill>
                <a:latin typeface="Poppins" pitchFamily="34" charset="0"/>
                <a:ea typeface="Calibri" pitchFamily="34" charset="-122"/>
                <a:cs typeface="Calibri" pitchFamily="34" charset="-120"/>
              </a:rPr>
              <a:t>À toi de créer ton propre Super-Héros !</a:t>
            </a:r>
            <a:endParaRPr lang="fr-FR" sz="2800" dirty="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9" name="Image 8">
            <a:extLst>
              <a:ext uri="{FF2B5EF4-FFF2-40B4-BE49-F238E27FC236}">
                <a16:creationId xmlns:a16="http://schemas.microsoft.com/office/drawing/2014/main" id="{1272B92B-21E4-464F-9F8E-4A62B1E16185}"/>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50" name="Text 50"/>
          <p:cNvSpPr/>
          <p:nvPr/>
        </p:nvSpPr>
        <p:spPr>
          <a:xfrm>
            <a:off x="457200" y="1351310"/>
            <a:ext cx="6647688" cy="165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Tu as découvert le secret de la colle magique et tu as appris à écouter ta grande batterie. Tu sais quoi ? Gérer tout ça tous les jours fait de toi un vrai super-héros !</a:t>
            </a:r>
          </a:p>
        </p:txBody>
      </p:sp>
      <p:sp>
        <p:nvSpPr>
          <p:cNvPr id="51" name="Text 51"/>
          <p:cNvSpPr/>
          <p:nvPr/>
        </p:nvSpPr>
        <p:spPr>
          <a:xfrm>
            <a:off x="500000" y="3213148"/>
            <a:ext cx="6647688" cy="1100000"/>
          </a:xfrm>
          <a:prstGeom prst="rect">
            <a:avLst/>
          </a:prstGeom>
          <a:noFill/>
          <a:ln/>
        </p:spPr>
        <p:txBody>
          <a:bodyPr wrap="square" lIns="0" tIns="0" rIns="0" bIns="0" rtlCol="0" anchor="t"/>
          <a:lstStyle/>
          <a:p>
            <a:pPr marL="0" indent="0" algn="ctr">
              <a:buNone/>
            </a:pPr>
            <a:r>
              <a:rPr lang="fr-FR" sz="2400" b="0" dirty="0">
                <a:solidFill>
                  <a:srgbClr val="333333"/>
                </a:solidFill>
                <a:latin typeface="Poppins"/>
              </a:rPr>
              <a:t>À quoi ressemble ton costume ? Dessine-toi en super-héros ou colorie la silhouette ci-dessous. N'oublie pas de choisir tes couleurs préférées et de rajouter tes supers outils pour t'aider !</a:t>
            </a:r>
          </a:p>
        </p:txBody>
      </p:sp>
      <p:sp>
        <p:nvSpPr>
          <p:cNvPr id="60" name="DrawBox"/>
          <p:cNvSpPr/>
          <p:nvPr/>
        </p:nvSpPr>
        <p:spPr>
          <a:xfrm>
            <a:off x="1781425" y="5034614"/>
            <a:ext cx="4000000" cy="4378119"/>
          </a:xfrm>
          <a:prstGeom prst="roundRect">
            <a:avLst>
              <a:gd name="adj" fmla="val 4000"/>
            </a:avLst>
          </a:prstGeom>
          <a:solidFill>
            <a:srgbClr val="FFFFFF"/>
          </a:solidFill>
          <a:ln w="28575">
            <a:solidFill>
              <a:srgbClr val="E8963D"/>
            </a:solidFill>
            <a:prstDash val="dash"/>
          </a:ln>
        </p:spPr>
        <p:txBody>
          <a:bodyPr/>
          <a:lstStyle/>
          <a:p>
            <a:endParaRPr lang="fr-FR"/>
          </a:p>
        </p:txBody>
      </p:sp>
      <p:pic>
        <p:nvPicPr>
          <p:cNvPr id="90" name="Silhouette"/>
          <p:cNvPicPr>
            <a:picLocks noChangeAspect="1"/>
          </p:cNvPicPr>
          <p:nvPr/>
        </p:nvPicPr>
        <p:blipFill>
          <a:blip r:embed="rId4"/>
          <a:stretch>
            <a:fillRect/>
          </a:stretch>
        </p:blipFill>
        <p:spPr>
          <a:xfrm>
            <a:off x="2081044" y="5458290"/>
            <a:ext cx="3400000" cy="3530769"/>
          </a:xfrm>
          <a:prstGeom prst="rect">
            <a:avLst/>
          </a:prstGeom>
        </p:spPr>
      </p:pic>
      <p:sp>
        <p:nvSpPr>
          <p:cNvPr id="80" name="Text 80"/>
          <p:cNvSpPr/>
          <p:nvPr/>
        </p:nvSpPr>
        <p:spPr>
          <a:xfrm>
            <a:off x="1781425" y="9600000"/>
            <a:ext cx="4000000" cy="400000"/>
          </a:xfrm>
          <a:prstGeom prst="rect">
            <a:avLst/>
          </a:prstGeom>
          <a:noFill/>
          <a:ln/>
        </p:spPr>
        <p:txBody>
          <a:bodyPr wrap="square" lIns="0" tIns="0" rIns="0" bIns="0" rtlCol="0" anchor="t"/>
          <a:lstStyle/>
          <a:p>
            <a:pPr marL="0" indent="0" algn="ctr">
              <a:buNone/>
            </a:pPr>
            <a:r>
              <a:rPr lang="fr-FR" sz="1400" b="0" i="1" dirty="0">
                <a:solidFill>
                  <a:srgbClr val="999999"/>
                </a:solidFill>
                <a:latin typeface="Poppins"/>
              </a:rPr>
              <a:t>Dessine-toi ici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57200" y="360000"/>
            <a:ext cx="6647688" cy="648000"/>
          </a:xfrm>
          <a:prstGeom prst="rect">
            <a:avLst/>
          </a:prstGeom>
          <a:noFill/>
          <a:ln/>
        </p:spPr>
        <p:txBody>
          <a:bodyPr wrap="square" lIns="0" tIns="0" rIns="0" bIns="0" rtlCol="0" anchor="ctr"/>
          <a:lstStyle/>
          <a:p>
            <a:pPr marL="0" indent="0" algn="ctr">
              <a:buNone/>
            </a:pPr>
            <a:r>
              <a:rPr lang="en-US" sz="3000" b="1">
                <a:solidFill>
                  <a:srgbClr val="8B1A2B"/>
                </a:solidFill>
                <a:latin typeface="Poppins" pitchFamily="34" charset="0"/>
                <a:ea typeface="Calibri" pitchFamily="34" charset="-122"/>
                <a:cs typeface="Calibri" pitchFamily="34" charset="-120"/>
              </a:rPr>
              <a:t>Pour tes parents</a:t>
            </a:r>
            <a:endParaRPr lang="en-US" sz="3000"/>
          </a:p>
        </p:txBody>
      </p:sp>
      <p:sp>
        <p:nvSpPr>
          <p:cNvPr id="99" name="Footer"/>
          <p:cNvSpPr/>
          <p:nvPr/>
        </p:nvSpPr>
        <p:spPr>
          <a:xfrm>
            <a:off x="500000" y="10300000"/>
            <a:ext cx="6562850" cy="300000"/>
          </a:xfrm>
          <a:prstGeom prst="rect">
            <a:avLst/>
          </a:prstGeom>
          <a:noFill/>
          <a:ln/>
        </p:spPr>
        <p:txBody>
          <a:bodyPr wrap="square" lIns="0" tIns="0" rIns="0" bIns="0" rtlCol="0" anchor="ctr"/>
          <a:lstStyle/>
          <a:p>
            <a:pPr marL="0" indent="0" algn="ctr">
              <a:buNone/>
            </a:pPr>
            <a:r>
              <a:rPr lang="fr-FR" sz="1000" i="1">
                <a:solidFill>
                  <a:srgbClr val="666666"/>
                </a:solidFill>
                <a:latin typeface="Poppins" pitchFamily="34" charset="0"/>
                <a:ea typeface="Calibri" pitchFamily="34" charset="0"/>
                <a:cs typeface="Calibri" pitchFamily="34" charset="0"/>
              </a:rPr>
              <a:t>Fait par l’association Sed’Occ France 04/2026</a:t>
            </a:r>
          </a:p>
        </p:txBody>
      </p:sp>
      <p:pic>
        <p:nvPicPr>
          <p:cNvPr id="8" name="Image 7">
            <a:extLst>
              <a:ext uri="{FF2B5EF4-FFF2-40B4-BE49-F238E27FC236}">
                <a16:creationId xmlns:a16="http://schemas.microsoft.com/office/drawing/2014/main" id="{21E0B056-8D9F-8042-A02E-B988B66CF19F}"/>
              </a:ext>
            </a:extLst>
          </p:cNvPr>
          <p:cNvPicPr>
            <a:picLocks noChangeAspect="1"/>
          </p:cNvPicPr>
          <p:nvPr/>
        </p:nvPicPr>
        <p:blipFill rotWithShape="1">
          <a:blip r:embed="rId3"/>
          <a:srcRect l="9802" t="10888" r="15836" b="19876"/>
          <a:stretch/>
        </p:blipFill>
        <p:spPr>
          <a:xfrm>
            <a:off x="6300000" y="9540000"/>
            <a:ext cx="1080000" cy="1007999"/>
          </a:xfrm>
          <a:prstGeom prst="rect">
            <a:avLst/>
          </a:prstGeom>
        </p:spPr>
      </p:pic>
      <p:sp>
        <p:nvSpPr>
          <p:cNvPr id="6" name="Rectangle 5"/>
          <p:cNvSpPr/>
          <p:nvPr/>
        </p:nvSpPr>
        <p:spPr>
          <a:xfrm>
            <a:off x="1281425" y="4200000"/>
            <a:ext cx="5000000" cy="2400000"/>
          </a:xfrm>
          <a:prstGeom prst="rect">
            <a:avLst/>
          </a:prstGeom>
        </p:spPr>
        <p:txBody>
          <a:bodyPr>
            <a:spAutoFit/>
          </a:bodyPr>
          <a:lstStyle/>
          <a:p>
            <a:pPr algn="ctr">
              <a:spcBef>
                <a:spcPts val="300"/>
              </a:spcBef>
            </a:pPr>
            <a:r>
              <a:rPr lang="fr-FR" sz="2400" dirty="0">
                <a:solidFill>
                  <a:srgbClr val="666666"/>
                </a:solidFill>
                <a:latin typeface="Poppins"/>
              </a:rPr>
              <a:t>Site internet : </a:t>
            </a:r>
            <a:r>
              <a:rPr lang="fr-FR" sz="2400" dirty="0" err="1">
                <a:solidFill>
                  <a:srgbClr val="666666"/>
                </a:solidFill>
                <a:latin typeface="Poppins"/>
              </a:rPr>
              <a:t>www.sedocc.fr</a:t>
            </a:r>
            <a:endParaRPr lang="fr-FR" sz="2400" dirty="0">
              <a:solidFill>
                <a:srgbClr val="666666"/>
              </a:solidFill>
              <a:latin typeface="Poppins"/>
            </a:endParaRPr>
          </a:p>
          <a:p>
            <a:pPr algn="ctr"/>
            <a:r>
              <a:rPr lang="fr-FR" sz="2400" dirty="0">
                <a:solidFill>
                  <a:srgbClr val="666666"/>
                </a:solidFill>
                <a:latin typeface="Poppins"/>
              </a:rPr>
              <a:t>Email : Sedocc31@gmail.com</a:t>
            </a:r>
          </a:p>
          <a:p>
            <a:pPr algn="ctr"/>
            <a:r>
              <a:rPr lang="fr-FR" sz="2400" dirty="0">
                <a:solidFill>
                  <a:srgbClr val="666666"/>
                </a:solidFill>
                <a:latin typeface="Poppins"/>
              </a:rPr>
              <a:t>Facebook : </a:t>
            </a:r>
            <a:r>
              <a:rPr lang="fr-FR" sz="2400" dirty="0" err="1">
                <a:solidFill>
                  <a:srgbClr val="666666"/>
                </a:solidFill>
                <a:latin typeface="Poppins"/>
              </a:rPr>
              <a:t>SedOcc</a:t>
            </a:r>
            <a:endParaRPr lang="fr-FR" dirty="0">
              <a:solidFill>
                <a:srgbClr val="666666"/>
              </a:solidFill>
              <a:latin typeface="Poppin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103</TotalTime>
  <Words>919</Words>
  <Application>Microsoft Macintosh PowerPoint</Application>
  <PresentationFormat>Personnalisé</PresentationFormat>
  <Paragraphs>100</Paragraphs>
  <Slides>12</Slides>
  <Notes>8</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12</vt:i4>
      </vt:variant>
    </vt:vector>
  </HeadingPairs>
  <TitlesOfParts>
    <vt:vector size="17" baseType="lpstr">
      <vt:lpstr>Aptos</vt:lpstr>
      <vt:lpstr>Arial</vt:lpstr>
      <vt:lpstr>Calibri</vt:lpstr>
      <vt:lpstr>Poppins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16.0011</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therese borin</dc:creator>
  <cp:lastModifiedBy>Florence Garnero</cp:lastModifiedBy>
  <cp:revision>19</cp:revision>
  <dcterms:created xsi:type="dcterms:W3CDTF">2026-04-27T15:58:41Z</dcterms:created>
  <dcterms:modified xsi:type="dcterms:W3CDTF">2026-07-13T20:11:28Z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2026-04-27T00:00:00Z</vt:filetime>
  </property>
  <property fmtid="{D5CDD505-2E9C-101B-9397-08002B2CF9AE}" pid="3" name="CreationClient">
    <vt:lpwstr>hz-json-import</vt:lpwstr>
  </property>
  <property fmtid="{D5CDD505-2E9C-101B-9397-08002B2CF9AE}" pid="4" name="Creator">
    <vt:lpwstr>Adobe Express</vt:lpwstr>
  </property>
  <property fmtid="{D5CDD505-2E9C-101B-9397-08002B2CF9AE}" pid="5" name="LastSaved">
    <vt:filetime>2026-04-27T00:00:00Z</vt:filetime>
  </property>
  <property fmtid="{D5CDD505-2E9C-101B-9397-08002B2CF9AE}" pid="6" name="Producer">
    <vt:lpwstr>Adobe Express</vt:lpwstr>
  </property>
</Properties>
</file>